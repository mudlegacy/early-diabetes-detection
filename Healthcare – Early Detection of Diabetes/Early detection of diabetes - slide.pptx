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al Unicode Bold" panose="020B0604020202020204" charset="-128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Alexandria Bold" panose="020B0604020202020204" charset="-78"/>
      <p:regular r:id="rId21"/>
    </p:embeddedFont>
    <p:embeddedFont>
      <p:font typeface="Times New Roman Bold Italics" panose="020B0604020202020204" charset="0"/>
      <p:regular r:id="rId22"/>
    </p:embeddedFont>
    <p:embeddedFont>
      <p:font typeface="Times New Roman Bold" panose="02020803070505020304" pitchFamily="18" charset="0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61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66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492206">
            <a:off x="13698744" y="-4673887"/>
            <a:ext cx="8097113" cy="18678641"/>
            <a:chOff x="0" y="0"/>
            <a:chExt cx="812800" cy="1874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874989"/>
            </a:xfrm>
            <a:custGeom>
              <a:avLst/>
              <a:gdLst/>
              <a:ahLst/>
              <a:cxnLst/>
              <a:rect l="l" t="t" r="r" b="b"/>
              <a:pathLst>
                <a:path w="812800" h="1874989">
                  <a:moveTo>
                    <a:pt x="406400" y="0"/>
                  </a:moveTo>
                  <a:cubicBezTo>
                    <a:pt x="181951" y="0"/>
                    <a:pt x="0" y="419731"/>
                    <a:pt x="0" y="937495"/>
                  </a:cubicBezTo>
                  <a:cubicBezTo>
                    <a:pt x="0" y="1455258"/>
                    <a:pt x="181951" y="1874989"/>
                    <a:pt x="406400" y="1874989"/>
                  </a:cubicBezTo>
                  <a:cubicBezTo>
                    <a:pt x="630849" y="1874989"/>
                    <a:pt x="812800" y="1455258"/>
                    <a:pt x="812800" y="937495"/>
                  </a:cubicBezTo>
                  <a:cubicBezTo>
                    <a:pt x="812800" y="41973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37680"/>
              <a:ext cx="660400" cy="1561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9772811">
            <a:off x="-2088945" y="1980121"/>
            <a:ext cx="3354777" cy="7738890"/>
            <a:chOff x="0" y="0"/>
            <a:chExt cx="812800" cy="18749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874989"/>
            </a:xfrm>
            <a:custGeom>
              <a:avLst/>
              <a:gdLst/>
              <a:ahLst/>
              <a:cxnLst/>
              <a:rect l="l" t="t" r="r" b="b"/>
              <a:pathLst>
                <a:path w="812800" h="1874989">
                  <a:moveTo>
                    <a:pt x="406400" y="0"/>
                  </a:moveTo>
                  <a:cubicBezTo>
                    <a:pt x="181951" y="0"/>
                    <a:pt x="0" y="419731"/>
                    <a:pt x="0" y="937495"/>
                  </a:cubicBezTo>
                  <a:cubicBezTo>
                    <a:pt x="0" y="1455258"/>
                    <a:pt x="181951" y="1874989"/>
                    <a:pt x="406400" y="1874989"/>
                  </a:cubicBezTo>
                  <a:cubicBezTo>
                    <a:pt x="630849" y="1874989"/>
                    <a:pt x="812800" y="1455258"/>
                    <a:pt x="812800" y="937495"/>
                  </a:cubicBezTo>
                  <a:cubicBezTo>
                    <a:pt x="812800" y="41973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37680"/>
              <a:ext cx="660400" cy="1561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28754" y="4844045"/>
            <a:ext cx="4913779" cy="1005521"/>
            <a:chOff x="0" y="0"/>
            <a:chExt cx="1198959" cy="2453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8959" cy="245346"/>
            </a:xfrm>
            <a:custGeom>
              <a:avLst/>
              <a:gdLst/>
              <a:ahLst/>
              <a:cxnLst/>
              <a:rect l="l" t="t" r="r" b="b"/>
              <a:pathLst>
                <a:path w="1198959" h="245346">
                  <a:moveTo>
                    <a:pt x="81929" y="0"/>
                  </a:moveTo>
                  <a:lnTo>
                    <a:pt x="1117030" y="0"/>
                  </a:lnTo>
                  <a:cubicBezTo>
                    <a:pt x="1162278" y="0"/>
                    <a:pt x="1198959" y="36681"/>
                    <a:pt x="1198959" y="81929"/>
                  </a:cubicBezTo>
                  <a:lnTo>
                    <a:pt x="1198959" y="163418"/>
                  </a:lnTo>
                  <a:cubicBezTo>
                    <a:pt x="1198959" y="185147"/>
                    <a:pt x="1190327" y="205985"/>
                    <a:pt x="1174962" y="221350"/>
                  </a:cubicBezTo>
                  <a:cubicBezTo>
                    <a:pt x="1159598" y="236715"/>
                    <a:pt x="1138759" y="245346"/>
                    <a:pt x="1117030" y="245346"/>
                  </a:cubicBezTo>
                  <a:lnTo>
                    <a:pt x="81929" y="245346"/>
                  </a:lnTo>
                  <a:cubicBezTo>
                    <a:pt x="60200" y="245346"/>
                    <a:pt x="39361" y="236715"/>
                    <a:pt x="23996" y="221350"/>
                  </a:cubicBezTo>
                  <a:cubicBezTo>
                    <a:pt x="8632" y="205985"/>
                    <a:pt x="0" y="185147"/>
                    <a:pt x="0" y="163418"/>
                  </a:cubicBezTo>
                  <a:lnTo>
                    <a:pt x="0" y="81929"/>
                  </a:lnTo>
                  <a:cubicBezTo>
                    <a:pt x="0" y="60200"/>
                    <a:pt x="8632" y="39361"/>
                    <a:pt x="23996" y="23996"/>
                  </a:cubicBezTo>
                  <a:cubicBezTo>
                    <a:pt x="39361" y="8632"/>
                    <a:pt x="60200" y="0"/>
                    <a:pt x="819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8959" cy="283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569974" y="4906840"/>
            <a:ext cx="6191401" cy="1296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6"/>
              </a:lnSpc>
            </a:pPr>
            <a:r>
              <a:rPr lang="en-US" sz="3497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By Team DataVerse</a:t>
            </a:r>
          </a:p>
          <a:p>
            <a:pPr algn="l">
              <a:lnSpc>
                <a:spcPts val="5316"/>
              </a:lnSpc>
            </a:pPr>
            <a:endParaRPr lang="en-US" sz="3497" b="1">
              <a:solidFill>
                <a:srgbClr val="000000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330560" y="2844601"/>
            <a:ext cx="11951286" cy="182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63"/>
              </a:lnSpc>
            </a:pPr>
            <a:r>
              <a:rPr lang="en-US" sz="10617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PRESENTATION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909067" y="8573072"/>
            <a:ext cx="3368838" cy="911317"/>
            <a:chOff x="0" y="0"/>
            <a:chExt cx="821994" cy="2223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21994" cy="222361"/>
            </a:xfrm>
            <a:custGeom>
              <a:avLst/>
              <a:gdLst/>
              <a:ahLst/>
              <a:cxnLst/>
              <a:rect l="l" t="t" r="r" b="b"/>
              <a:pathLst>
                <a:path w="821994" h="222361">
                  <a:moveTo>
                    <a:pt x="111180" y="0"/>
                  </a:moveTo>
                  <a:lnTo>
                    <a:pt x="710814" y="0"/>
                  </a:lnTo>
                  <a:cubicBezTo>
                    <a:pt x="772217" y="0"/>
                    <a:pt x="821994" y="49777"/>
                    <a:pt x="821994" y="111180"/>
                  </a:cubicBezTo>
                  <a:lnTo>
                    <a:pt x="821994" y="111180"/>
                  </a:lnTo>
                  <a:cubicBezTo>
                    <a:pt x="821994" y="172584"/>
                    <a:pt x="772217" y="222361"/>
                    <a:pt x="710814" y="222361"/>
                  </a:cubicBezTo>
                  <a:lnTo>
                    <a:pt x="111180" y="222361"/>
                  </a:lnTo>
                  <a:cubicBezTo>
                    <a:pt x="49777" y="222361"/>
                    <a:pt x="0" y="172584"/>
                    <a:pt x="0" y="111180"/>
                  </a:cubicBezTo>
                  <a:lnTo>
                    <a:pt x="0" y="111180"/>
                  </a:lnTo>
                  <a:cubicBezTo>
                    <a:pt x="0" y="49777"/>
                    <a:pt x="49777" y="0"/>
                    <a:pt x="1111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21994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57535" y="8764119"/>
            <a:ext cx="3034221" cy="61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02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Techcrush Capstone Project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492206">
            <a:off x="13698744" y="-4673887"/>
            <a:ext cx="8097113" cy="18678641"/>
            <a:chOff x="0" y="0"/>
            <a:chExt cx="812800" cy="1874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874989"/>
            </a:xfrm>
            <a:custGeom>
              <a:avLst/>
              <a:gdLst/>
              <a:ahLst/>
              <a:cxnLst/>
              <a:rect l="l" t="t" r="r" b="b"/>
              <a:pathLst>
                <a:path w="812800" h="1874989">
                  <a:moveTo>
                    <a:pt x="406400" y="0"/>
                  </a:moveTo>
                  <a:cubicBezTo>
                    <a:pt x="181951" y="0"/>
                    <a:pt x="0" y="419731"/>
                    <a:pt x="0" y="937495"/>
                  </a:cubicBezTo>
                  <a:cubicBezTo>
                    <a:pt x="0" y="1455258"/>
                    <a:pt x="181951" y="1874989"/>
                    <a:pt x="406400" y="1874989"/>
                  </a:cubicBezTo>
                  <a:cubicBezTo>
                    <a:pt x="630849" y="1874989"/>
                    <a:pt x="812800" y="1455258"/>
                    <a:pt x="812800" y="937495"/>
                  </a:cubicBezTo>
                  <a:cubicBezTo>
                    <a:pt x="812800" y="41973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37680"/>
              <a:ext cx="660400" cy="1561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9772811">
            <a:off x="-2088945" y="1980121"/>
            <a:ext cx="3354777" cy="7738890"/>
            <a:chOff x="0" y="0"/>
            <a:chExt cx="812800" cy="18749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874989"/>
            </a:xfrm>
            <a:custGeom>
              <a:avLst/>
              <a:gdLst/>
              <a:ahLst/>
              <a:cxnLst/>
              <a:rect l="l" t="t" r="r" b="b"/>
              <a:pathLst>
                <a:path w="812800" h="1874989">
                  <a:moveTo>
                    <a:pt x="406400" y="0"/>
                  </a:moveTo>
                  <a:cubicBezTo>
                    <a:pt x="181951" y="0"/>
                    <a:pt x="0" y="419731"/>
                    <a:pt x="0" y="937495"/>
                  </a:cubicBezTo>
                  <a:cubicBezTo>
                    <a:pt x="0" y="1455258"/>
                    <a:pt x="181951" y="1874989"/>
                    <a:pt x="406400" y="1874989"/>
                  </a:cubicBezTo>
                  <a:cubicBezTo>
                    <a:pt x="630849" y="1874989"/>
                    <a:pt x="812800" y="1455258"/>
                    <a:pt x="812800" y="937495"/>
                  </a:cubicBezTo>
                  <a:cubicBezTo>
                    <a:pt x="812800" y="41973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37680"/>
              <a:ext cx="660400" cy="1561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57535" y="3250589"/>
            <a:ext cx="13467474" cy="1005521"/>
            <a:chOff x="0" y="0"/>
            <a:chExt cx="3286055" cy="2453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86055" cy="245346"/>
            </a:xfrm>
            <a:custGeom>
              <a:avLst/>
              <a:gdLst/>
              <a:ahLst/>
              <a:cxnLst/>
              <a:rect l="l" t="t" r="r" b="b"/>
              <a:pathLst>
                <a:path w="3286055" h="245346">
                  <a:moveTo>
                    <a:pt x="29893" y="0"/>
                  </a:moveTo>
                  <a:lnTo>
                    <a:pt x="3256162" y="0"/>
                  </a:lnTo>
                  <a:cubicBezTo>
                    <a:pt x="3264090" y="0"/>
                    <a:pt x="3271693" y="3149"/>
                    <a:pt x="3277300" y="8755"/>
                  </a:cubicBezTo>
                  <a:cubicBezTo>
                    <a:pt x="3282905" y="14361"/>
                    <a:pt x="3286055" y="21965"/>
                    <a:pt x="3286055" y="29893"/>
                  </a:cubicBezTo>
                  <a:lnTo>
                    <a:pt x="3286055" y="215454"/>
                  </a:lnTo>
                  <a:cubicBezTo>
                    <a:pt x="3286055" y="223382"/>
                    <a:pt x="3282905" y="230985"/>
                    <a:pt x="3277300" y="236591"/>
                  </a:cubicBezTo>
                  <a:cubicBezTo>
                    <a:pt x="3271693" y="242197"/>
                    <a:pt x="3264090" y="245346"/>
                    <a:pt x="3256162" y="245346"/>
                  </a:cubicBezTo>
                  <a:lnTo>
                    <a:pt x="29893" y="245346"/>
                  </a:lnTo>
                  <a:cubicBezTo>
                    <a:pt x="13383" y="245346"/>
                    <a:pt x="0" y="231963"/>
                    <a:pt x="0" y="215454"/>
                  </a:cubicBezTo>
                  <a:lnTo>
                    <a:pt x="0" y="29893"/>
                  </a:lnTo>
                  <a:cubicBezTo>
                    <a:pt x="0" y="21965"/>
                    <a:pt x="3149" y="14361"/>
                    <a:pt x="8755" y="8755"/>
                  </a:cubicBezTo>
                  <a:cubicBezTo>
                    <a:pt x="14361" y="3149"/>
                    <a:pt x="21965" y="0"/>
                    <a:pt x="2989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286055" cy="283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09067" y="8573072"/>
            <a:ext cx="3368838" cy="911317"/>
            <a:chOff x="0" y="0"/>
            <a:chExt cx="821994" cy="22236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1994" cy="222361"/>
            </a:xfrm>
            <a:custGeom>
              <a:avLst/>
              <a:gdLst/>
              <a:ahLst/>
              <a:cxnLst/>
              <a:rect l="l" t="t" r="r" b="b"/>
              <a:pathLst>
                <a:path w="821994" h="222361">
                  <a:moveTo>
                    <a:pt x="111180" y="0"/>
                  </a:moveTo>
                  <a:lnTo>
                    <a:pt x="710814" y="0"/>
                  </a:lnTo>
                  <a:cubicBezTo>
                    <a:pt x="772217" y="0"/>
                    <a:pt x="821994" y="49777"/>
                    <a:pt x="821994" y="111180"/>
                  </a:cubicBezTo>
                  <a:lnTo>
                    <a:pt x="821994" y="111180"/>
                  </a:lnTo>
                  <a:cubicBezTo>
                    <a:pt x="821994" y="172584"/>
                    <a:pt x="772217" y="222361"/>
                    <a:pt x="710814" y="222361"/>
                  </a:cubicBezTo>
                  <a:lnTo>
                    <a:pt x="111180" y="222361"/>
                  </a:lnTo>
                  <a:cubicBezTo>
                    <a:pt x="49777" y="222361"/>
                    <a:pt x="0" y="172584"/>
                    <a:pt x="0" y="111180"/>
                  </a:cubicBezTo>
                  <a:lnTo>
                    <a:pt x="0" y="111180"/>
                  </a:lnTo>
                  <a:cubicBezTo>
                    <a:pt x="0" y="49777"/>
                    <a:pt x="49777" y="0"/>
                    <a:pt x="1111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21994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057535" y="8764119"/>
            <a:ext cx="3034221" cy="61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02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Techcrush Capstone Project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30560" y="3371467"/>
            <a:ext cx="13014842" cy="68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7"/>
              </a:lnSpc>
              <a:spcBef>
                <a:spcPct val="0"/>
              </a:spcBef>
            </a:pPr>
            <a:r>
              <a:rPr lang="en-US" sz="4055" b="1" spc="186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Predictive Modeling for Early Diabetes Detection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235081" y="4876890"/>
            <a:ext cx="11112382" cy="1005521"/>
            <a:chOff x="0" y="0"/>
            <a:chExt cx="2711414" cy="24534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11414" cy="245346"/>
            </a:xfrm>
            <a:custGeom>
              <a:avLst/>
              <a:gdLst/>
              <a:ahLst/>
              <a:cxnLst/>
              <a:rect l="l" t="t" r="r" b="b"/>
              <a:pathLst>
                <a:path w="2711414" h="245346">
                  <a:moveTo>
                    <a:pt x="36228" y="0"/>
                  </a:moveTo>
                  <a:lnTo>
                    <a:pt x="2675186" y="0"/>
                  </a:lnTo>
                  <a:cubicBezTo>
                    <a:pt x="2684794" y="0"/>
                    <a:pt x="2694009" y="3817"/>
                    <a:pt x="2700803" y="10611"/>
                  </a:cubicBezTo>
                  <a:cubicBezTo>
                    <a:pt x="2707597" y="17405"/>
                    <a:pt x="2711414" y="26620"/>
                    <a:pt x="2711414" y="36228"/>
                  </a:cubicBezTo>
                  <a:lnTo>
                    <a:pt x="2711414" y="209118"/>
                  </a:lnTo>
                  <a:cubicBezTo>
                    <a:pt x="2711414" y="218727"/>
                    <a:pt x="2707597" y="227941"/>
                    <a:pt x="2700803" y="234735"/>
                  </a:cubicBezTo>
                  <a:cubicBezTo>
                    <a:pt x="2694009" y="241530"/>
                    <a:pt x="2684794" y="245346"/>
                    <a:pt x="2675186" y="245346"/>
                  </a:cubicBezTo>
                  <a:lnTo>
                    <a:pt x="36228" y="245346"/>
                  </a:lnTo>
                  <a:cubicBezTo>
                    <a:pt x="26620" y="245346"/>
                    <a:pt x="17405" y="241530"/>
                    <a:pt x="10611" y="234735"/>
                  </a:cubicBezTo>
                  <a:cubicBezTo>
                    <a:pt x="3817" y="227941"/>
                    <a:pt x="0" y="218727"/>
                    <a:pt x="0" y="209118"/>
                  </a:cubicBezTo>
                  <a:lnTo>
                    <a:pt x="0" y="36228"/>
                  </a:lnTo>
                  <a:cubicBezTo>
                    <a:pt x="0" y="26620"/>
                    <a:pt x="3817" y="17405"/>
                    <a:pt x="10611" y="10611"/>
                  </a:cubicBezTo>
                  <a:cubicBezTo>
                    <a:pt x="17405" y="3817"/>
                    <a:pt x="26620" y="0"/>
                    <a:pt x="3622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711414" cy="283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768561" y="5076825"/>
            <a:ext cx="10045423" cy="53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7"/>
              </a:lnSpc>
              <a:spcBef>
                <a:spcPct val="0"/>
              </a:spcBef>
            </a:pPr>
            <a:r>
              <a:rPr lang="en-US" sz="3155" b="1" spc="145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A Data-Driven Approach to Proactive Healthcare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6757" y="297283"/>
            <a:ext cx="4158273" cy="911317"/>
            <a:chOff x="0" y="0"/>
            <a:chExt cx="1014616" cy="2223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16" cy="222361"/>
            </a:xfrm>
            <a:custGeom>
              <a:avLst/>
              <a:gdLst/>
              <a:ahLst/>
              <a:cxnLst/>
              <a:rect l="l" t="t" r="r" b="b"/>
              <a:pathLst>
                <a:path w="1014616" h="222361">
                  <a:moveTo>
                    <a:pt x="96814" y="0"/>
                  </a:moveTo>
                  <a:lnTo>
                    <a:pt x="917802" y="0"/>
                  </a:lnTo>
                  <a:cubicBezTo>
                    <a:pt x="943478" y="0"/>
                    <a:pt x="968104" y="10200"/>
                    <a:pt x="986260" y="28356"/>
                  </a:cubicBezTo>
                  <a:cubicBezTo>
                    <a:pt x="1004416" y="46512"/>
                    <a:pt x="1014616" y="71137"/>
                    <a:pt x="1014616" y="96814"/>
                  </a:cubicBezTo>
                  <a:lnTo>
                    <a:pt x="1014616" y="125547"/>
                  </a:lnTo>
                  <a:cubicBezTo>
                    <a:pt x="1014616" y="179016"/>
                    <a:pt x="971271" y="222361"/>
                    <a:pt x="917802" y="222361"/>
                  </a:cubicBezTo>
                  <a:lnTo>
                    <a:pt x="96814" y="222361"/>
                  </a:lnTo>
                  <a:cubicBezTo>
                    <a:pt x="71137" y="222361"/>
                    <a:pt x="46512" y="212161"/>
                    <a:pt x="28356" y="194005"/>
                  </a:cubicBezTo>
                  <a:cubicBezTo>
                    <a:pt x="10200" y="175848"/>
                    <a:pt x="0" y="151223"/>
                    <a:pt x="0" y="125547"/>
                  </a:cubicBezTo>
                  <a:lnTo>
                    <a:pt x="0" y="96814"/>
                  </a:lnTo>
                  <a:cubicBezTo>
                    <a:pt x="0" y="71137"/>
                    <a:pt x="10200" y="46512"/>
                    <a:pt x="28356" y="28356"/>
                  </a:cubicBezTo>
                  <a:cubicBezTo>
                    <a:pt x="46512" y="10200"/>
                    <a:pt x="71137" y="0"/>
                    <a:pt x="96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14616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81551" y="1865825"/>
            <a:ext cx="14363049" cy="1669960"/>
            <a:chOff x="0" y="0"/>
            <a:chExt cx="3504574" cy="4074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04574" cy="407469"/>
            </a:xfrm>
            <a:custGeom>
              <a:avLst/>
              <a:gdLst/>
              <a:ahLst/>
              <a:cxnLst/>
              <a:rect l="l" t="t" r="r" b="b"/>
              <a:pathLst>
                <a:path w="3504574" h="407469">
                  <a:moveTo>
                    <a:pt x="28029" y="0"/>
                  </a:moveTo>
                  <a:lnTo>
                    <a:pt x="3476546" y="0"/>
                  </a:lnTo>
                  <a:cubicBezTo>
                    <a:pt x="3492026" y="0"/>
                    <a:pt x="3504574" y="12549"/>
                    <a:pt x="3504574" y="28029"/>
                  </a:cubicBezTo>
                  <a:lnTo>
                    <a:pt x="3504574" y="379440"/>
                  </a:lnTo>
                  <a:cubicBezTo>
                    <a:pt x="3504574" y="394920"/>
                    <a:pt x="3492026" y="407469"/>
                    <a:pt x="3476546" y="407469"/>
                  </a:cubicBezTo>
                  <a:lnTo>
                    <a:pt x="28029" y="407469"/>
                  </a:lnTo>
                  <a:cubicBezTo>
                    <a:pt x="12549" y="407469"/>
                    <a:pt x="0" y="394920"/>
                    <a:pt x="0" y="379440"/>
                  </a:cubicBezTo>
                  <a:lnTo>
                    <a:pt x="0" y="28029"/>
                  </a:lnTo>
                  <a:cubicBezTo>
                    <a:pt x="0" y="12549"/>
                    <a:pt x="12549" y="0"/>
                    <a:pt x="280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504574" cy="445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81551" y="5655670"/>
            <a:ext cx="14363049" cy="3473658"/>
            <a:chOff x="0" y="0"/>
            <a:chExt cx="3504574" cy="8475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04574" cy="847570"/>
            </a:xfrm>
            <a:custGeom>
              <a:avLst/>
              <a:gdLst/>
              <a:ahLst/>
              <a:cxnLst/>
              <a:rect l="l" t="t" r="r" b="b"/>
              <a:pathLst>
                <a:path w="3504574" h="847570">
                  <a:moveTo>
                    <a:pt x="28029" y="0"/>
                  </a:moveTo>
                  <a:lnTo>
                    <a:pt x="3476546" y="0"/>
                  </a:lnTo>
                  <a:cubicBezTo>
                    <a:pt x="3492026" y="0"/>
                    <a:pt x="3504574" y="12549"/>
                    <a:pt x="3504574" y="28029"/>
                  </a:cubicBezTo>
                  <a:lnTo>
                    <a:pt x="3504574" y="819541"/>
                  </a:lnTo>
                  <a:cubicBezTo>
                    <a:pt x="3504574" y="835021"/>
                    <a:pt x="3492026" y="847570"/>
                    <a:pt x="3476546" y="847570"/>
                  </a:cubicBezTo>
                  <a:lnTo>
                    <a:pt x="28029" y="847570"/>
                  </a:lnTo>
                  <a:cubicBezTo>
                    <a:pt x="12549" y="847570"/>
                    <a:pt x="0" y="835021"/>
                    <a:pt x="0" y="819541"/>
                  </a:cubicBezTo>
                  <a:lnTo>
                    <a:pt x="0" y="28029"/>
                  </a:lnTo>
                  <a:cubicBezTo>
                    <a:pt x="0" y="12549"/>
                    <a:pt x="12549" y="0"/>
                    <a:pt x="280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504574" cy="885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81551" y="4088728"/>
            <a:ext cx="13073246" cy="911317"/>
            <a:chOff x="0" y="0"/>
            <a:chExt cx="3189863" cy="22236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89863" cy="222361"/>
            </a:xfrm>
            <a:custGeom>
              <a:avLst/>
              <a:gdLst/>
              <a:ahLst/>
              <a:cxnLst/>
              <a:rect l="l" t="t" r="r" b="b"/>
              <a:pathLst>
                <a:path w="3189863" h="222361">
                  <a:moveTo>
                    <a:pt x="30794" y="0"/>
                  </a:moveTo>
                  <a:lnTo>
                    <a:pt x="3159069" y="0"/>
                  </a:lnTo>
                  <a:cubicBezTo>
                    <a:pt x="3176076" y="0"/>
                    <a:pt x="3189863" y="13787"/>
                    <a:pt x="3189863" y="30794"/>
                  </a:cubicBezTo>
                  <a:lnTo>
                    <a:pt x="3189863" y="191567"/>
                  </a:lnTo>
                  <a:cubicBezTo>
                    <a:pt x="3189863" y="208574"/>
                    <a:pt x="3176076" y="222361"/>
                    <a:pt x="3159069" y="222361"/>
                  </a:cubicBezTo>
                  <a:lnTo>
                    <a:pt x="30794" y="222361"/>
                  </a:lnTo>
                  <a:cubicBezTo>
                    <a:pt x="13787" y="222361"/>
                    <a:pt x="0" y="208574"/>
                    <a:pt x="0" y="191567"/>
                  </a:cubicBezTo>
                  <a:lnTo>
                    <a:pt x="0" y="30794"/>
                  </a:lnTo>
                  <a:cubicBezTo>
                    <a:pt x="0" y="13787"/>
                    <a:pt x="13787" y="0"/>
                    <a:pt x="307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189863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594524" y="0"/>
            <a:ext cx="2445642" cy="10287000"/>
            <a:chOff x="0" y="0"/>
            <a:chExt cx="596735" cy="25100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6735" cy="2510021"/>
            </a:xfrm>
            <a:custGeom>
              <a:avLst/>
              <a:gdLst/>
              <a:ahLst/>
              <a:cxnLst/>
              <a:rect l="l" t="t" r="r" b="b"/>
              <a:pathLst>
                <a:path w="596735" h="2510021">
                  <a:moveTo>
                    <a:pt x="164611" y="0"/>
                  </a:moveTo>
                  <a:lnTo>
                    <a:pt x="432124" y="0"/>
                  </a:lnTo>
                  <a:cubicBezTo>
                    <a:pt x="523036" y="0"/>
                    <a:pt x="596735" y="73699"/>
                    <a:pt x="596735" y="164611"/>
                  </a:cubicBezTo>
                  <a:lnTo>
                    <a:pt x="596735" y="2345410"/>
                  </a:lnTo>
                  <a:cubicBezTo>
                    <a:pt x="596735" y="2436322"/>
                    <a:pt x="523036" y="2510021"/>
                    <a:pt x="432124" y="2510021"/>
                  </a:cubicBezTo>
                  <a:lnTo>
                    <a:pt x="164611" y="2510021"/>
                  </a:lnTo>
                  <a:cubicBezTo>
                    <a:pt x="73699" y="2510021"/>
                    <a:pt x="0" y="2436322"/>
                    <a:pt x="0" y="2345410"/>
                  </a:cubicBezTo>
                  <a:lnTo>
                    <a:pt x="0" y="164611"/>
                  </a:lnTo>
                  <a:cubicBezTo>
                    <a:pt x="0" y="73699"/>
                    <a:pt x="73699" y="0"/>
                    <a:pt x="1646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96735" cy="2548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62475" y="1973601"/>
            <a:ext cx="15557904" cy="219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8"/>
              </a:lnSpc>
            </a:pPr>
            <a:r>
              <a:rPr lang="en-US" sz="449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Challenge: Reducing Crowding In Hospital &amp; Early Detection Of Diabetes In a Patient.</a:t>
            </a:r>
          </a:p>
          <a:p>
            <a:pPr algn="l">
              <a:lnSpc>
                <a:spcPts val="5588"/>
              </a:lnSpc>
            </a:pPr>
            <a:endParaRPr lang="en-US" sz="449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6044601" y="8371741"/>
            <a:ext cx="1773118" cy="1773118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1492206">
            <a:off x="16706995" y="-1860974"/>
            <a:ext cx="3162010" cy="7294211"/>
            <a:chOff x="0" y="0"/>
            <a:chExt cx="812800" cy="187498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1874989"/>
            </a:xfrm>
            <a:custGeom>
              <a:avLst/>
              <a:gdLst/>
              <a:ahLst/>
              <a:cxnLst/>
              <a:rect l="l" t="t" r="r" b="b"/>
              <a:pathLst>
                <a:path w="812800" h="1874989">
                  <a:moveTo>
                    <a:pt x="406400" y="0"/>
                  </a:moveTo>
                  <a:cubicBezTo>
                    <a:pt x="181951" y="0"/>
                    <a:pt x="0" y="419731"/>
                    <a:pt x="0" y="937495"/>
                  </a:cubicBezTo>
                  <a:cubicBezTo>
                    <a:pt x="0" y="1455258"/>
                    <a:pt x="181951" y="1874989"/>
                    <a:pt x="406400" y="1874989"/>
                  </a:cubicBezTo>
                  <a:cubicBezTo>
                    <a:pt x="630849" y="1874989"/>
                    <a:pt x="812800" y="1455258"/>
                    <a:pt x="812800" y="937495"/>
                  </a:cubicBezTo>
                  <a:cubicBezTo>
                    <a:pt x="812800" y="41973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37680"/>
              <a:ext cx="660400" cy="1561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068615" y="4272780"/>
            <a:ext cx="12328208" cy="7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555" b="1" spc="117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goal is to create a tool for a mobile clinic to efficiently pre-screen for diabetes.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89578" y="6102829"/>
            <a:ext cx="13751269" cy="85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Problem: Mobile clinics need a low-cost, effective way to identify patients at high risk of diabetes.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62475" y="7131544"/>
            <a:ext cx="14363049" cy="44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Goal: Prioritize resources and focus medical attention on those who need it most.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89578" y="7767858"/>
            <a:ext cx="14363049" cy="85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Impact: Improve patient outcomes through early intervention and reduce strain on larger hospitals.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68615" y="501552"/>
            <a:ext cx="14256909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 Statement: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84818" y="6846752"/>
            <a:ext cx="6880497" cy="688049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229599" y="-3357948"/>
            <a:ext cx="6880497" cy="68804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8996631"/>
            <a:ext cx="1290369" cy="129036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63942" y="300510"/>
            <a:ext cx="4158273" cy="911317"/>
            <a:chOff x="0" y="0"/>
            <a:chExt cx="1014616" cy="22236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4616" cy="222361"/>
            </a:xfrm>
            <a:custGeom>
              <a:avLst/>
              <a:gdLst/>
              <a:ahLst/>
              <a:cxnLst/>
              <a:rect l="l" t="t" r="r" b="b"/>
              <a:pathLst>
                <a:path w="1014616" h="222361">
                  <a:moveTo>
                    <a:pt x="96814" y="0"/>
                  </a:moveTo>
                  <a:lnTo>
                    <a:pt x="917802" y="0"/>
                  </a:lnTo>
                  <a:cubicBezTo>
                    <a:pt x="943478" y="0"/>
                    <a:pt x="968104" y="10200"/>
                    <a:pt x="986260" y="28356"/>
                  </a:cubicBezTo>
                  <a:cubicBezTo>
                    <a:pt x="1004416" y="46512"/>
                    <a:pt x="1014616" y="71137"/>
                    <a:pt x="1014616" y="96814"/>
                  </a:cubicBezTo>
                  <a:lnTo>
                    <a:pt x="1014616" y="125547"/>
                  </a:lnTo>
                  <a:cubicBezTo>
                    <a:pt x="1014616" y="179016"/>
                    <a:pt x="971271" y="222361"/>
                    <a:pt x="917802" y="222361"/>
                  </a:cubicBezTo>
                  <a:lnTo>
                    <a:pt x="96814" y="222361"/>
                  </a:lnTo>
                  <a:cubicBezTo>
                    <a:pt x="71137" y="222361"/>
                    <a:pt x="46512" y="212161"/>
                    <a:pt x="28356" y="194005"/>
                  </a:cubicBezTo>
                  <a:cubicBezTo>
                    <a:pt x="10200" y="175848"/>
                    <a:pt x="0" y="151223"/>
                    <a:pt x="0" y="125547"/>
                  </a:cubicBezTo>
                  <a:lnTo>
                    <a:pt x="0" y="96814"/>
                  </a:lnTo>
                  <a:cubicBezTo>
                    <a:pt x="0" y="71137"/>
                    <a:pt x="10200" y="46512"/>
                    <a:pt x="28356" y="28356"/>
                  </a:cubicBezTo>
                  <a:cubicBezTo>
                    <a:pt x="46512" y="10200"/>
                    <a:pt x="71137" y="0"/>
                    <a:pt x="96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14616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81551" y="1865825"/>
            <a:ext cx="5300653" cy="1669960"/>
            <a:chOff x="0" y="0"/>
            <a:chExt cx="1293356" cy="40746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93356" cy="407469"/>
            </a:xfrm>
            <a:custGeom>
              <a:avLst/>
              <a:gdLst/>
              <a:ahLst/>
              <a:cxnLst/>
              <a:rect l="l" t="t" r="r" b="b"/>
              <a:pathLst>
                <a:path w="1293356" h="407469">
                  <a:moveTo>
                    <a:pt x="75949" y="0"/>
                  </a:moveTo>
                  <a:lnTo>
                    <a:pt x="1217407" y="0"/>
                  </a:lnTo>
                  <a:cubicBezTo>
                    <a:pt x="1259352" y="0"/>
                    <a:pt x="1293356" y="34004"/>
                    <a:pt x="1293356" y="75949"/>
                  </a:cubicBezTo>
                  <a:lnTo>
                    <a:pt x="1293356" y="331520"/>
                  </a:lnTo>
                  <a:cubicBezTo>
                    <a:pt x="1293356" y="373466"/>
                    <a:pt x="1259352" y="407469"/>
                    <a:pt x="1217407" y="407469"/>
                  </a:cubicBezTo>
                  <a:lnTo>
                    <a:pt x="75949" y="407469"/>
                  </a:lnTo>
                  <a:cubicBezTo>
                    <a:pt x="34004" y="407469"/>
                    <a:pt x="0" y="373466"/>
                    <a:pt x="0" y="331520"/>
                  </a:cubicBezTo>
                  <a:lnTo>
                    <a:pt x="0" y="75949"/>
                  </a:lnTo>
                  <a:cubicBezTo>
                    <a:pt x="0" y="34004"/>
                    <a:pt x="34004" y="0"/>
                    <a:pt x="759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93356" cy="445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81551" y="5535113"/>
            <a:ext cx="14363049" cy="3605543"/>
            <a:chOff x="0" y="0"/>
            <a:chExt cx="3504574" cy="8797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04574" cy="879750"/>
            </a:xfrm>
            <a:custGeom>
              <a:avLst/>
              <a:gdLst/>
              <a:ahLst/>
              <a:cxnLst/>
              <a:rect l="l" t="t" r="r" b="b"/>
              <a:pathLst>
                <a:path w="3504574" h="879750">
                  <a:moveTo>
                    <a:pt x="28029" y="0"/>
                  </a:moveTo>
                  <a:lnTo>
                    <a:pt x="3476546" y="0"/>
                  </a:lnTo>
                  <a:cubicBezTo>
                    <a:pt x="3492026" y="0"/>
                    <a:pt x="3504574" y="12549"/>
                    <a:pt x="3504574" y="28029"/>
                  </a:cubicBezTo>
                  <a:lnTo>
                    <a:pt x="3504574" y="851721"/>
                  </a:lnTo>
                  <a:cubicBezTo>
                    <a:pt x="3504574" y="867201"/>
                    <a:pt x="3492026" y="879750"/>
                    <a:pt x="3476546" y="879750"/>
                  </a:cubicBezTo>
                  <a:lnTo>
                    <a:pt x="28029" y="879750"/>
                  </a:lnTo>
                  <a:cubicBezTo>
                    <a:pt x="12549" y="879750"/>
                    <a:pt x="0" y="867201"/>
                    <a:pt x="0" y="851721"/>
                  </a:cubicBezTo>
                  <a:lnTo>
                    <a:pt x="0" y="28029"/>
                  </a:lnTo>
                  <a:cubicBezTo>
                    <a:pt x="0" y="12549"/>
                    <a:pt x="12549" y="0"/>
                    <a:pt x="280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504574" cy="91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81551" y="4088728"/>
            <a:ext cx="9841272" cy="911317"/>
            <a:chOff x="0" y="0"/>
            <a:chExt cx="2401264" cy="2223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01264" cy="222361"/>
            </a:xfrm>
            <a:custGeom>
              <a:avLst/>
              <a:gdLst/>
              <a:ahLst/>
              <a:cxnLst/>
              <a:rect l="l" t="t" r="r" b="b"/>
              <a:pathLst>
                <a:path w="2401264" h="222361">
                  <a:moveTo>
                    <a:pt x="40907" y="0"/>
                  </a:moveTo>
                  <a:lnTo>
                    <a:pt x="2360356" y="0"/>
                  </a:lnTo>
                  <a:cubicBezTo>
                    <a:pt x="2382949" y="0"/>
                    <a:pt x="2401264" y="18315"/>
                    <a:pt x="2401264" y="40907"/>
                  </a:cubicBezTo>
                  <a:lnTo>
                    <a:pt x="2401264" y="181453"/>
                  </a:lnTo>
                  <a:cubicBezTo>
                    <a:pt x="2401264" y="204046"/>
                    <a:pt x="2382949" y="222361"/>
                    <a:pt x="2360356" y="222361"/>
                  </a:cubicBezTo>
                  <a:lnTo>
                    <a:pt x="40907" y="222361"/>
                  </a:lnTo>
                  <a:cubicBezTo>
                    <a:pt x="18315" y="222361"/>
                    <a:pt x="0" y="204046"/>
                    <a:pt x="0" y="181453"/>
                  </a:cubicBezTo>
                  <a:lnTo>
                    <a:pt x="0" y="40907"/>
                  </a:lnTo>
                  <a:cubicBezTo>
                    <a:pt x="0" y="18315"/>
                    <a:pt x="18315" y="0"/>
                    <a:pt x="409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401264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027713" y="468266"/>
            <a:ext cx="4158273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Project Objectives: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62475" y="2379883"/>
            <a:ext cx="14363049" cy="53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7"/>
              </a:lnSpc>
              <a:spcBef>
                <a:spcPct val="0"/>
              </a:spcBef>
            </a:pPr>
            <a:r>
              <a:rPr lang="en-US" sz="2855" b="1" spc="13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Data to Diagnosis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62475" y="4268232"/>
            <a:ext cx="9351412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two-step approach to building a reliable predictive model.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81551" y="6171620"/>
            <a:ext cx="14363049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149" lvl="1" indent="-265074" algn="l">
              <a:lnSpc>
                <a:spcPts val="3437"/>
              </a:lnSpc>
              <a:buAutoNum type="arabicPeriod"/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Explore the Data (EDA) Uncover the factors that most significantly influence diabetes risk.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62475" y="7090325"/>
            <a:ext cx="14363049" cy="89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Build a Predictive Model Develop a robust classification model to predict a patient's diabetes status using key health indicators.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73885" y="8285254"/>
            <a:ext cx="14363049" cy="428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7"/>
              </a:lnSpc>
              <a:spcBef>
                <a:spcPct val="0"/>
              </a:spcBef>
            </a:pPr>
            <a:r>
              <a:rPr lang="en-US" sz="2255" b="1" spc="1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Raw Data -&gt; Analysis -&gt; Predictive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1044" y="322022"/>
            <a:ext cx="5781159" cy="874081"/>
            <a:chOff x="0" y="0"/>
            <a:chExt cx="1410599" cy="213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10599" cy="213275"/>
            </a:xfrm>
            <a:custGeom>
              <a:avLst/>
              <a:gdLst/>
              <a:ahLst/>
              <a:cxnLst/>
              <a:rect l="l" t="t" r="r" b="b"/>
              <a:pathLst>
                <a:path w="1410599" h="213275">
                  <a:moveTo>
                    <a:pt x="69637" y="0"/>
                  </a:moveTo>
                  <a:lnTo>
                    <a:pt x="1340962" y="0"/>
                  </a:lnTo>
                  <a:cubicBezTo>
                    <a:pt x="1359431" y="0"/>
                    <a:pt x="1377144" y="7337"/>
                    <a:pt x="1390203" y="20396"/>
                  </a:cubicBezTo>
                  <a:cubicBezTo>
                    <a:pt x="1403262" y="33455"/>
                    <a:pt x="1410599" y="51168"/>
                    <a:pt x="1410599" y="69637"/>
                  </a:cubicBezTo>
                  <a:lnTo>
                    <a:pt x="1410599" y="143639"/>
                  </a:lnTo>
                  <a:cubicBezTo>
                    <a:pt x="1410599" y="162107"/>
                    <a:pt x="1403262" y="179820"/>
                    <a:pt x="1390203" y="192879"/>
                  </a:cubicBezTo>
                  <a:cubicBezTo>
                    <a:pt x="1377144" y="205938"/>
                    <a:pt x="1359431" y="213275"/>
                    <a:pt x="1340962" y="213275"/>
                  </a:cubicBezTo>
                  <a:lnTo>
                    <a:pt x="69637" y="213275"/>
                  </a:lnTo>
                  <a:cubicBezTo>
                    <a:pt x="51168" y="213275"/>
                    <a:pt x="33455" y="205938"/>
                    <a:pt x="20396" y="192879"/>
                  </a:cubicBezTo>
                  <a:cubicBezTo>
                    <a:pt x="7337" y="179820"/>
                    <a:pt x="0" y="162107"/>
                    <a:pt x="0" y="143639"/>
                  </a:cubicBezTo>
                  <a:lnTo>
                    <a:pt x="0" y="69637"/>
                  </a:lnTo>
                  <a:cubicBezTo>
                    <a:pt x="0" y="51168"/>
                    <a:pt x="7337" y="33455"/>
                    <a:pt x="20396" y="20396"/>
                  </a:cubicBezTo>
                  <a:cubicBezTo>
                    <a:pt x="33455" y="7337"/>
                    <a:pt x="51168" y="0"/>
                    <a:pt x="6963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10599" cy="2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5132" y="1786132"/>
            <a:ext cx="11232668" cy="1848452"/>
            <a:chOff x="0" y="0"/>
            <a:chExt cx="2692688" cy="3924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92688" cy="392455"/>
            </a:xfrm>
            <a:custGeom>
              <a:avLst/>
              <a:gdLst/>
              <a:ahLst/>
              <a:cxnLst/>
              <a:rect l="l" t="t" r="r" b="b"/>
              <a:pathLst>
                <a:path w="2692688" h="392455">
                  <a:moveTo>
                    <a:pt x="36480" y="0"/>
                  </a:moveTo>
                  <a:lnTo>
                    <a:pt x="2656208" y="0"/>
                  </a:lnTo>
                  <a:cubicBezTo>
                    <a:pt x="2665883" y="0"/>
                    <a:pt x="2675162" y="3843"/>
                    <a:pt x="2682003" y="10685"/>
                  </a:cubicBezTo>
                  <a:cubicBezTo>
                    <a:pt x="2688845" y="17526"/>
                    <a:pt x="2692688" y="26805"/>
                    <a:pt x="2692688" y="36480"/>
                  </a:cubicBezTo>
                  <a:lnTo>
                    <a:pt x="2692688" y="355975"/>
                  </a:lnTo>
                  <a:cubicBezTo>
                    <a:pt x="2692688" y="376122"/>
                    <a:pt x="2676355" y="392455"/>
                    <a:pt x="2656208" y="392455"/>
                  </a:cubicBezTo>
                  <a:lnTo>
                    <a:pt x="36480" y="392455"/>
                  </a:lnTo>
                  <a:cubicBezTo>
                    <a:pt x="26805" y="392455"/>
                    <a:pt x="17526" y="388611"/>
                    <a:pt x="10685" y="381770"/>
                  </a:cubicBezTo>
                  <a:cubicBezTo>
                    <a:pt x="3843" y="374928"/>
                    <a:pt x="0" y="365650"/>
                    <a:pt x="0" y="355975"/>
                  </a:cubicBezTo>
                  <a:lnTo>
                    <a:pt x="0" y="36480"/>
                  </a:lnTo>
                  <a:cubicBezTo>
                    <a:pt x="0" y="26805"/>
                    <a:pt x="3843" y="17526"/>
                    <a:pt x="10685" y="10685"/>
                  </a:cubicBezTo>
                  <a:cubicBezTo>
                    <a:pt x="17526" y="3843"/>
                    <a:pt x="26805" y="0"/>
                    <a:pt x="364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92688" cy="430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01044" y="4138762"/>
            <a:ext cx="16262249" cy="4932288"/>
            <a:chOff x="0" y="0"/>
            <a:chExt cx="3967978" cy="12034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67978" cy="1203475"/>
            </a:xfrm>
            <a:custGeom>
              <a:avLst/>
              <a:gdLst/>
              <a:ahLst/>
              <a:cxnLst/>
              <a:rect l="l" t="t" r="r" b="b"/>
              <a:pathLst>
                <a:path w="3967978" h="1203475">
                  <a:moveTo>
                    <a:pt x="24755" y="0"/>
                  </a:moveTo>
                  <a:lnTo>
                    <a:pt x="3943222" y="0"/>
                  </a:lnTo>
                  <a:cubicBezTo>
                    <a:pt x="3956895" y="0"/>
                    <a:pt x="3967978" y="11083"/>
                    <a:pt x="3967978" y="24755"/>
                  </a:cubicBezTo>
                  <a:lnTo>
                    <a:pt x="3967978" y="1178720"/>
                  </a:lnTo>
                  <a:cubicBezTo>
                    <a:pt x="3967978" y="1192392"/>
                    <a:pt x="3956895" y="1203475"/>
                    <a:pt x="3943222" y="1203475"/>
                  </a:cubicBezTo>
                  <a:lnTo>
                    <a:pt x="24755" y="1203475"/>
                  </a:lnTo>
                  <a:cubicBezTo>
                    <a:pt x="18190" y="1203475"/>
                    <a:pt x="11893" y="1200867"/>
                    <a:pt x="7251" y="1196224"/>
                  </a:cubicBezTo>
                  <a:cubicBezTo>
                    <a:pt x="2608" y="1191582"/>
                    <a:pt x="0" y="1185285"/>
                    <a:pt x="0" y="1178720"/>
                  </a:cubicBezTo>
                  <a:lnTo>
                    <a:pt x="0" y="24755"/>
                  </a:lnTo>
                  <a:cubicBezTo>
                    <a:pt x="0" y="11083"/>
                    <a:pt x="11083" y="0"/>
                    <a:pt x="2475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967978" cy="1241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33357" y="-43420"/>
            <a:ext cx="2085127" cy="10605688"/>
            <a:chOff x="0" y="0"/>
            <a:chExt cx="508770" cy="25877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8770" cy="2587781"/>
            </a:xfrm>
            <a:custGeom>
              <a:avLst/>
              <a:gdLst/>
              <a:ahLst/>
              <a:cxnLst/>
              <a:rect l="l" t="t" r="r" b="b"/>
              <a:pathLst>
                <a:path w="508770" h="2587781">
                  <a:moveTo>
                    <a:pt x="193072" y="0"/>
                  </a:moveTo>
                  <a:lnTo>
                    <a:pt x="315697" y="0"/>
                  </a:lnTo>
                  <a:cubicBezTo>
                    <a:pt x="422328" y="0"/>
                    <a:pt x="508770" y="86441"/>
                    <a:pt x="508770" y="193072"/>
                  </a:cubicBezTo>
                  <a:lnTo>
                    <a:pt x="508770" y="2394709"/>
                  </a:lnTo>
                  <a:cubicBezTo>
                    <a:pt x="508770" y="2445915"/>
                    <a:pt x="488428" y="2495023"/>
                    <a:pt x="452220" y="2531231"/>
                  </a:cubicBezTo>
                  <a:cubicBezTo>
                    <a:pt x="416012" y="2567439"/>
                    <a:pt x="366903" y="2587781"/>
                    <a:pt x="315697" y="2587781"/>
                  </a:cubicBezTo>
                  <a:lnTo>
                    <a:pt x="193072" y="2587781"/>
                  </a:lnTo>
                  <a:cubicBezTo>
                    <a:pt x="86441" y="2587781"/>
                    <a:pt x="0" y="2501340"/>
                    <a:pt x="0" y="2394709"/>
                  </a:cubicBezTo>
                  <a:lnTo>
                    <a:pt x="0" y="193072"/>
                  </a:lnTo>
                  <a:cubicBezTo>
                    <a:pt x="0" y="86441"/>
                    <a:pt x="86441" y="0"/>
                    <a:pt x="1930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08770" cy="2625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004807" y="1504148"/>
            <a:ext cx="1773118" cy="177311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492206">
            <a:off x="16706995" y="-1860974"/>
            <a:ext cx="3162010" cy="7294211"/>
            <a:chOff x="0" y="0"/>
            <a:chExt cx="812800" cy="187498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1874989"/>
            </a:xfrm>
            <a:custGeom>
              <a:avLst/>
              <a:gdLst/>
              <a:ahLst/>
              <a:cxnLst/>
              <a:rect l="l" t="t" r="r" b="b"/>
              <a:pathLst>
                <a:path w="812800" h="1874989">
                  <a:moveTo>
                    <a:pt x="406400" y="0"/>
                  </a:moveTo>
                  <a:cubicBezTo>
                    <a:pt x="181951" y="0"/>
                    <a:pt x="0" y="419731"/>
                    <a:pt x="0" y="937495"/>
                  </a:cubicBezTo>
                  <a:cubicBezTo>
                    <a:pt x="0" y="1455258"/>
                    <a:pt x="181951" y="1874989"/>
                    <a:pt x="406400" y="1874989"/>
                  </a:cubicBezTo>
                  <a:cubicBezTo>
                    <a:pt x="630849" y="1874989"/>
                    <a:pt x="812800" y="1455258"/>
                    <a:pt x="812800" y="937495"/>
                  </a:cubicBezTo>
                  <a:cubicBezTo>
                    <a:pt x="812800" y="41973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37680"/>
              <a:ext cx="660400" cy="1561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025751" y="482907"/>
            <a:ext cx="5356967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Dataset: Pima Indians Diabetes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25751" y="2086294"/>
            <a:ext cx="6758789" cy="50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 spc="1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Data We Worked With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25751" y="2659336"/>
            <a:ext cx="9377651" cy="428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  <a:spcBef>
                <a:spcPct val="0"/>
              </a:spcBef>
            </a:pPr>
            <a:r>
              <a:rPr lang="en-US" sz="2255" b="1" spc="1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 used a well-known, standard dataset for this classification problem.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25751" y="4814429"/>
            <a:ext cx="9182446" cy="44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Dataset: Pima Indians Diabetes Dataset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25751" y="5763601"/>
            <a:ext cx="9182446" cy="44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Records: 768 anonymized patient records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25751" y="6711794"/>
            <a:ext cx="9182446" cy="85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Features: 8 key health indicators, including: Glucose BMI Age Pregnancies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25751" y="7928314"/>
            <a:ext cx="16262249" cy="44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Target: The Outcome column (0 = Non-Diabetic, 1 = Diabetic)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84818" y="6846752"/>
            <a:ext cx="6880497" cy="688049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8671051"/>
            <a:ext cx="1290369" cy="12903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55242" y="230427"/>
            <a:ext cx="7493084" cy="911317"/>
            <a:chOff x="0" y="0"/>
            <a:chExt cx="1828308" cy="2223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8308" cy="222361"/>
            </a:xfrm>
            <a:custGeom>
              <a:avLst/>
              <a:gdLst/>
              <a:ahLst/>
              <a:cxnLst/>
              <a:rect l="l" t="t" r="r" b="b"/>
              <a:pathLst>
                <a:path w="1828308" h="222361">
                  <a:moveTo>
                    <a:pt x="53727" y="0"/>
                  </a:moveTo>
                  <a:lnTo>
                    <a:pt x="1774581" y="0"/>
                  </a:lnTo>
                  <a:cubicBezTo>
                    <a:pt x="1804253" y="0"/>
                    <a:pt x="1828308" y="24054"/>
                    <a:pt x="1828308" y="53727"/>
                  </a:cubicBezTo>
                  <a:lnTo>
                    <a:pt x="1828308" y="168634"/>
                  </a:lnTo>
                  <a:cubicBezTo>
                    <a:pt x="1828308" y="198306"/>
                    <a:pt x="1804253" y="222361"/>
                    <a:pt x="1774581" y="222361"/>
                  </a:cubicBezTo>
                  <a:lnTo>
                    <a:pt x="53727" y="222361"/>
                  </a:lnTo>
                  <a:cubicBezTo>
                    <a:pt x="24054" y="222361"/>
                    <a:pt x="0" y="198306"/>
                    <a:pt x="0" y="168634"/>
                  </a:cubicBezTo>
                  <a:lnTo>
                    <a:pt x="0" y="53727"/>
                  </a:lnTo>
                  <a:cubicBezTo>
                    <a:pt x="0" y="24054"/>
                    <a:pt x="24054" y="0"/>
                    <a:pt x="537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28308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0386" y="1673885"/>
            <a:ext cx="11430799" cy="1533062"/>
            <a:chOff x="0" y="0"/>
            <a:chExt cx="2789107" cy="3740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89107" cy="374066"/>
            </a:xfrm>
            <a:custGeom>
              <a:avLst/>
              <a:gdLst/>
              <a:ahLst/>
              <a:cxnLst/>
              <a:rect l="l" t="t" r="r" b="b"/>
              <a:pathLst>
                <a:path w="2789107" h="374066">
                  <a:moveTo>
                    <a:pt x="35219" y="0"/>
                  </a:moveTo>
                  <a:lnTo>
                    <a:pt x="2753888" y="0"/>
                  </a:lnTo>
                  <a:cubicBezTo>
                    <a:pt x="2773339" y="0"/>
                    <a:pt x="2789107" y="15768"/>
                    <a:pt x="2789107" y="35219"/>
                  </a:cubicBezTo>
                  <a:lnTo>
                    <a:pt x="2789107" y="338847"/>
                  </a:lnTo>
                  <a:cubicBezTo>
                    <a:pt x="2789107" y="348188"/>
                    <a:pt x="2785397" y="357146"/>
                    <a:pt x="2778792" y="363751"/>
                  </a:cubicBezTo>
                  <a:cubicBezTo>
                    <a:pt x="2772187" y="370355"/>
                    <a:pt x="2763229" y="374066"/>
                    <a:pt x="2753888" y="374066"/>
                  </a:cubicBezTo>
                  <a:lnTo>
                    <a:pt x="35219" y="374066"/>
                  </a:lnTo>
                  <a:cubicBezTo>
                    <a:pt x="25878" y="374066"/>
                    <a:pt x="16920" y="370355"/>
                    <a:pt x="10315" y="363751"/>
                  </a:cubicBezTo>
                  <a:cubicBezTo>
                    <a:pt x="3711" y="357146"/>
                    <a:pt x="0" y="348188"/>
                    <a:pt x="0" y="338847"/>
                  </a:cubicBezTo>
                  <a:lnTo>
                    <a:pt x="0" y="35219"/>
                  </a:lnTo>
                  <a:cubicBezTo>
                    <a:pt x="0" y="25878"/>
                    <a:pt x="3711" y="16920"/>
                    <a:pt x="10315" y="10315"/>
                  </a:cubicBezTo>
                  <a:cubicBezTo>
                    <a:pt x="16920" y="3711"/>
                    <a:pt x="25878" y="0"/>
                    <a:pt x="352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789107" cy="412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3327204" y="-3440248"/>
            <a:ext cx="6880497" cy="688049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90053" y="8802641"/>
            <a:ext cx="4158273" cy="911317"/>
            <a:chOff x="0" y="0"/>
            <a:chExt cx="1014616" cy="2223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4616" cy="222361"/>
            </a:xfrm>
            <a:custGeom>
              <a:avLst/>
              <a:gdLst/>
              <a:ahLst/>
              <a:cxnLst/>
              <a:rect l="l" t="t" r="r" b="b"/>
              <a:pathLst>
                <a:path w="1014616" h="222361">
                  <a:moveTo>
                    <a:pt x="96814" y="0"/>
                  </a:moveTo>
                  <a:lnTo>
                    <a:pt x="917802" y="0"/>
                  </a:lnTo>
                  <a:cubicBezTo>
                    <a:pt x="943478" y="0"/>
                    <a:pt x="968104" y="10200"/>
                    <a:pt x="986260" y="28356"/>
                  </a:cubicBezTo>
                  <a:cubicBezTo>
                    <a:pt x="1004416" y="46512"/>
                    <a:pt x="1014616" y="71137"/>
                    <a:pt x="1014616" y="96814"/>
                  </a:cubicBezTo>
                  <a:lnTo>
                    <a:pt x="1014616" y="125547"/>
                  </a:lnTo>
                  <a:cubicBezTo>
                    <a:pt x="1014616" y="179016"/>
                    <a:pt x="971271" y="222361"/>
                    <a:pt x="917802" y="222361"/>
                  </a:cubicBezTo>
                  <a:lnTo>
                    <a:pt x="96814" y="222361"/>
                  </a:lnTo>
                  <a:cubicBezTo>
                    <a:pt x="71137" y="222361"/>
                    <a:pt x="46512" y="212161"/>
                    <a:pt x="28356" y="194005"/>
                  </a:cubicBezTo>
                  <a:cubicBezTo>
                    <a:pt x="10200" y="175848"/>
                    <a:pt x="0" y="151223"/>
                    <a:pt x="0" y="125547"/>
                  </a:cubicBezTo>
                  <a:lnTo>
                    <a:pt x="0" y="96814"/>
                  </a:lnTo>
                  <a:cubicBezTo>
                    <a:pt x="0" y="71137"/>
                    <a:pt x="10200" y="46512"/>
                    <a:pt x="28356" y="28356"/>
                  </a:cubicBezTo>
                  <a:cubicBezTo>
                    <a:pt x="46512" y="10200"/>
                    <a:pt x="71137" y="0"/>
                    <a:pt x="96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14616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0386" y="3967405"/>
            <a:ext cx="13510944" cy="4398846"/>
            <a:chOff x="0" y="0"/>
            <a:chExt cx="3296661" cy="10733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96662" cy="1073315"/>
            </a:xfrm>
            <a:custGeom>
              <a:avLst/>
              <a:gdLst/>
              <a:ahLst/>
              <a:cxnLst/>
              <a:rect l="l" t="t" r="r" b="b"/>
              <a:pathLst>
                <a:path w="3296662" h="1073315">
                  <a:moveTo>
                    <a:pt x="29797" y="0"/>
                  </a:moveTo>
                  <a:lnTo>
                    <a:pt x="3266865" y="0"/>
                  </a:lnTo>
                  <a:cubicBezTo>
                    <a:pt x="3274768" y="0"/>
                    <a:pt x="3282347" y="3139"/>
                    <a:pt x="3287934" y="8727"/>
                  </a:cubicBezTo>
                  <a:cubicBezTo>
                    <a:pt x="3293522" y="14315"/>
                    <a:pt x="3296662" y="21894"/>
                    <a:pt x="3296662" y="29797"/>
                  </a:cubicBezTo>
                  <a:lnTo>
                    <a:pt x="3296662" y="1043519"/>
                  </a:lnTo>
                  <a:cubicBezTo>
                    <a:pt x="3296662" y="1051421"/>
                    <a:pt x="3293522" y="1059000"/>
                    <a:pt x="3287934" y="1064588"/>
                  </a:cubicBezTo>
                  <a:cubicBezTo>
                    <a:pt x="3282347" y="1070176"/>
                    <a:pt x="3274768" y="1073315"/>
                    <a:pt x="3266865" y="1073315"/>
                  </a:cubicBezTo>
                  <a:lnTo>
                    <a:pt x="29797" y="1073315"/>
                  </a:lnTo>
                  <a:cubicBezTo>
                    <a:pt x="13340" y="1073315"/>
                    <a:pt x="0" y="1059975"/>
                    <a:pt x="0" y="1043519"/>
                  </a:cubicBezTo>
                  <a:lnTo>
                    <a:pt x="0" y="29797"/>
                  </a:lnTo>
                  <a:cubicBezTo>
                    <a:pt x="0" y="21894"/>
                    <a:pt x="3139" y="14315"/>
                    <a:pt x="8727" y="8727"/>
                  </a:cubicBezTo>
                  <a:cubicBezTo>
                    <a:pt x="14315" y="3139"/>
                    <a:pt x="21894" y="0"/>
                    <a:pt x="2979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296661" cy="1111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763942" y="434696"/>
            <a:ext cx="7493084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Initial Finding: The Hidden Data Problem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87201" y="1841054"/>
            <a:ext cx="8623528" cy="47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7"/>
              </a:lnSpc>
              <a:spcBef>
                <a:spcPct val="0"/>
              </a:spcBef>
            </a:pPr>
            <a:r>
              <a:rPr lang="en-US" sz="2555" b="1" spc="11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Data Wasn't as Clean as It Seemed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87201" y="2530378"/>
            <a:ext cx="10375717" cy="44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  <a:spcBef>
                <a:spcPct val="0"/>
              </a:spcBef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critical discovery: '0' values in key features were actually missing data.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0386" y="4338880"/>
            <a:ext cx="11890641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149" lvl="1" indent="-265074" algn="l">
              <a:lnSpc>
                <a:spcPts val="3437"/>
              </a:lnSpc>
              <a:buFont typeface="Arial"/>
              <a:buChar char="•"/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 found physiologically impossible 0 values in: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5164" y="4911160"/>
            <a:ext cx="11890641" cy="1628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6970" lvl="1" indent="-243485" algn="l">
              <a:lnSpc>
                <a:spcPts val="3157"/>
              </a:lnSpc>
              <a:buFont typeface="Arial"/>
              <a:buChar char="•"/>
            </a:pPr>
            <a:r>
              <a:rPr lang="en-US" sz="2255" b="1" i="1" spc="10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Glucose: 5 instances </a:t>
            </a:r>
          </a:p>
          <a:p>
            <a:pPr marL="486970" lvl="1" indent="-243485" algn="l">
              <a:lnSpc>
                <a:spcPts val="3157"/>
              </a:lnSpc>
              <a:buFont typeface="Arial"/>
              <a:buChar char="•"/>
            </a:pPr>
            <a:r>
              <a:rPr lang="en-US" sz="2255" b="1" i="1" spc="10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Blood Pressure: 35 instances</a:t>
            </a:r>
          </a:p>
          <a:p>
            <a:pPr marL="486970" lvl="1" indent="-243485" algn="l">
              <a:lnSpc>
                <a:spcPts val="3157"/>
              </a:lnSpc>
              <a:buFont typeface="Arial"/>
              <a:buChar char="•"/>
            </a:pPr>
            <a:r>
              <a:rPr lang="en-US" sz="2255" b="1" i="1" spc="10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BMI: 11 instances </a:t>
            </a:r>
          </a:p>
          <a:p>
            <a:pPr marL="486970" lvl="1" indent="-243485" algn="l">
              <a:lnSpc>
                <a:spcPts val="3157"/>
              </a:lnSpc>
              <a:buFont typeface="Arial"/>
              <a:buChar char="•"/>
            </a:pPr>
            <a:r>
              <a:rPr lang="en-US" sz="2255" b="1" i="1" spc="10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Insulin: 374 instances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0386" y="6977945"/>
            <a:ext cx="13510944" cy="85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Solution: We treated these as missing data and imputed them with the median value of each column, a method robust to outliers.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5090" y="3200443"/>
            <a:ext cx="12156216" cy="1943057"/>
            <a:chOff x="0" y="0"/>
            <a:chExt cx="2966109" cy="4741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66109" cy="474105"/>
            </a:xfrm>
            <a:custGeom>
              <a:avLst/>
              <a:gdLst/>
              <a:ahLst/>
              <a:cxnLst/>
              <a:rect l="l" t="t" r="r" b="b"/>
              <a:pathLst>
                <a:path w="2966109" h="474105">
                  <a:moveTo>
                    <a:pt x="33117" y="0"/>
                  </a:moveTo>
                  <a:lnTo>
                    <a:pt x="2932992" y="0"/>
                  </a:lnTo>
                  <a:cubicBezTo>
                    <a:pt x="2951282" y="0"/>
                    <a:pt x="2966109" y="14827"/>
                    <a:pt x="2966109" y="33117"/>
                  </a:cubicBezTo>
                  <a:lnTo>
                    <a:pt x="2966109" y="440987"/>
                  </a:lnTo>
                  <a:cubicBezTo>
                    <a:pt x="2966109" y="449771"/>
                    <a:pt x="2962620" y="458194"/>
                    <a:pt x="2956409" y="464405"/>
                  </a:cubicBezTo>
                  <a:cubicBezTo>
                    <a:pt x="2950198" y="470615"/>
                    <a:pt x="2941775" y="474105"/>
                    <a:pt x="2932992" y="474105"/>
                  </a:cubicBezTo>
                  <a:lnTo>
                    <a:pt x="33117" y="474105"/>
                  </a:lnTo>
                  <a:cubicBezTo>
                    <a:pt x="24334" y="474105"/>
                    <a:pt x="15910" y="470615"/>
                    <a:pt x="9700" y="464405"/>
                  </a:cubicBezTo>
                  <a:cubicBezTo>
                    <a:pt x="3489" y="458194"/>
                    <a:pt x="0" y="449771"/>
                    <a:pt x="0" y="440987"/>
                  </a:cubicBezTo>
                  <a:lnTo>
                    <a:pt x="0" y="33117"/>
                  </a:lnTo>
                  <a:cubicBezTo>
                    <a:pt x="0" y="24334"/>
                    <a:pt x="3489" y="15910"/>
                    <a:pt x="9700" y="9700"/>
                  </a:cubicBezTo>
                  <a:cubicBezTo>
                    <a:pt x="15910" y="3489"/>
                    <a:pt x="24334" y="0"/>
                    <a:pt x="3311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966109" cy="512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71471" y="488258"/>
            <a:ext cx="8011253" cy="1080884"/>
            <a:chOff x="0" y="0"/>
            <a:chExt cx="1954740" cy="2637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54741" cy="263735"/>
            </a:xfrm>
            <a:custGeom>
              <a:avLst/>
              <a:gdLst/>
              <a:ahLst/>
              <a:cxnLst/>
              <a:rect l="l" t="t" r="r" b="b"/>
              <a:pathLst>
                <a:path w="1954741" h="263735">
                  <a:moveTo>
                    <a:pt x="50252" y="0"/>
                  </a:moveTo>
                  <a:lnTo>
                    <a:pt x="1904489" y="0"/>
                  </a:lnTo>
                  <a:cubicBezTo>
                    <a:pt x="1932242" y="0"/>
                    <a:pt x="1954741" y="22498"/>
                    <a:pt x="1954741" y="50252"/>
                  </a:cubicBezTo>
                  <a:lnTo>
                    <a:pt x="1954741" y="213483"/>
                  </a:lnTo>
                  <a:cubicBezTo>
                    <a:pt x="1954741" y="241236"/>
                    <a:pt x="1932242" y="263735"/>
                    <a:pt x="1904489" y="263735"/>
                  </a:cubicBezTo>
                  <a:lnTo>
                    <a:pt x="50252" y="263735"/>
                  </a:lnTo>
                  <a:cubicBezTo>
                    <a:pt x="22498" y="263735"/>
                    <a:pt x="0" y="241236"/>
                    <a:pt x="0" y="213483"/>
                  </a:cubicBezTo>
                  <a:lnTo>
                    <a:pt x="0" y="50252"/>
                  </a:lnTo>
                  <a:cubicBezTo>
                    <a:pt x="0" y="22498"/>
                    <a:pt x="22498" y="0"/>
                    <a:pt x="502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54740" cy="301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5609" y="142141"/>
            <a:ext cx="1773118" cy="177311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492206">
            <a:off x="16499747" y="-1823292"/>
            <a:ext cx="3162010" cy="7294211"/>
            <a:chOff x="0" y="0"/>
            <a:chExt cx="812800" cy="18749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874989"/>
            </a:xfrm>
            <a:custGeom>
              <a:avLst/>
              <a:gdLst/>
              <a:ahLst/>
              <a:cxnLst/>
              <a:rect l="l" t="t" r="r" b="b"/>
              <a:pathLst>
                <a:path w="812800" h="1874989">
                  <a:moveTo>
                    <a:pt x="406400" y="0"/>
                  </a:moveTo>
                  <a:cubicBezTo>
                    <a:pt x="181951" y="0"/>
                    <a:pt x="0" y="419731"/>
                    <a:pt x="0" y="937495"/>
                  </a:cubicBezTo>
                  <a:cubicBezTo>
                    <a:pt x="0" y="1455258"/>
                    <a:pt x="181951" y="1874989"/>
                    <a:pt x="406400" y="1874989"/>
                  </a:cubicBezTo>
                  <a:cubicBezTo>
                    <a:pt x="630849" y="1874989"/>
                    <a:pt x="812800" y="1455258"/>
                    <a:pt x="812800" y="937495"/>
                  </a:cubicBezTo>
                  <a:cubicBezTo>
                    <a:pt x="812800" y="41973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37680"/>
              <a:ext cx="660400" cy="1561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492206">
            <a:off x="-1076989" y="4169737"/>
            <a:ext cx="3162010" cy="7294211"/>
            <a:chOff x="0" y="0"/>
            <a:chExt cx="812800" cy="18749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1874989"/>
            </a:xfrm>
            <a:custGeom>
              <a:avLst/>
              <a:gdLst/>
              <a:ahLst/>
              <a:cxnLst/>
              <a:rect l="l" t="t" r="r" b="b"/>
              <a:pathLst>
                <a:path w="812800" h="1874989">
                  <a:moveTo>
                    <a:pt x="406400" y="0"/>
                  </a:moveTo>
                  <a:cubicBezTo>
                    <a:pt x="181951" y="0"/>
                    <a:pt x="0" y="419731"/>
                    <a:pt x="0" y="937495"/>
                  </a:cubicBezTo>
                  <a:cubicBezTo>
                    <a:pt x="0" y="1455258"/>
                    <a:pt x="181951" y="1874989"/>
                    <a:pt x="406400" y="1874989"/>
                  </a:cubicBezTo>
                  <a:cubicBezTo>
                    <a:pt x="630849" y="1874989"/>
                    <a:pt x="812800" y="1455258"/>
                    <a:pt x="812800" y="937495"/>
                  </a:cubicBezTo>
                  <a:cubicBezTo>
                    <a:pt x="812800" y="41973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37680"/>
              <a:ext cx="660400" cy="1561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31621" y="1499685"/>
            <a:ext cx="12156216" cy="1768092"/>
            <a:chOff x="0" y="0"/>
            <a:chExt cx="2966109" cy="43141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66109" cy="431413"/>
            </a:xfrm>
            <a:custGeom>
              <a:avLst/>
              <a:gdLst/>
              <a:ahLst/>
              <a:cxnLst/>
              <a:rect l="l" t="t" r="r" b="b"/>
              <a:pathLst>
                <a:path w="2966109" h="431413">
                  <a:moveTo>
                    <a:pt x="33117" y="0"/>
                  </a:moveTo>
                  <a:lnTo>
                    <a:pt x="2932992" y="0"/>
                  </a:lnTo>
                  <a:cubicBezTo>
                    <a:pt x="2951282" y="0"/>
                    <a:pt x="2966109" y="14827"/>
                    <a:pt x="2966109" y="33117"/>
                  </a:cubicBezTo>
                  <a:lnTo>
                    <a:pt x="2966109" y="398296"/>
                  </a:lnTo>
                  <a:cubicBezTo>
                    <a:pt x="2966109" y="407079"/>
                    <a:pt x="2962620" y="415503"/>
                    <a:pt x="2956409" y="421714"/>
                  </a:cubicBezTo>
                  <a:cubicBezTo>
                    <a:pt x="2950198" y="427924"/>
                    <a:pt x="2941775" y="431413"/>
                    <a:pt x="2932992" y="431413"/>
                  </a:cubicBezTo>
                  <a:lnTo>
                    <a:pt x="33117" y="431413"/>
                  </a:lnTo>
                  <a:cubicBezTo>
                    <a:pt x="24334" y="431413"/>
                    <a:pt x="15910" y="427924"/>
                    <a:pt x="9700" y="421714"/>
                  </a:cubicBezTo>
                  <a:cubicBezTo>
                    <a:pt x="3489" y="415503"/>
                    <a:pt x="0" y="407079"/>
                    <a:pt x="0" y="398296"/>
                  </a:cubicBezTo>
                  <a:lnTo>
                    <a:pt x="0" y="33117"/>
                  </a:lnTo>
                  <a:cubicBezTo>
                    <a:pt x="0" y="24334"/>
                    <a:pt x="3489" y="15910"/>
                    <a:pt x="9700" y="9700"/>
                  </a:cubicBezTo>
                  <a:cubicBezTo>
                    <a:pt x="15910" y="3489"/>
                    <a:pt x="24334" y="0"/>
                    <a:pt x="3311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966109" cy="469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4942379" y="5092812"/>
            <a:ext cx="7442987" cy="5194188"/>
          </a:xfrm>
          <a:custGeom>
            <a:avLst/>
            <a:gdLst/>
            <a:ahLst/>
            <a:cxnLst/>
            <a:rect l="l" t="t" r="r" b="b"/>
            <a:pathLst>
              <a:path w="7442987" h="5194188">
                <a:moveTo>
                  <a:pt x="0" y="0"/>
                </a:moveTo>
                <a:lnTo>
                  <a:pt x="7442987" y="0"/>
                </a:lnTo>
                <a:lnTo>
                  <a:pt x="7442987" y="5194188"/>
                </a:lnTo>
                <a:lnTo>
                  <a:pt x="0" y="5194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79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148631" y="777310"/>
            <a:ext cx="7268871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Insight #1: Glucose is the Strongest Predictor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71471" y="1810484"/>
            <a:ext cx="7596757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EDA: Glucose Levels Clearly Separate the </a:t>
            </a:r>
            <a:r>
              <a:rPr lang="en-US" sz="2455" b="1" spc="112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Outcomes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50878" y="2416732"/>
            <a:ext cx="11898069" cy="724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endParaRPr lang="en-US" sz="2355" b="1" i="1" spc="108" dirty="0" smtClean="0">
              <a:solidFill>
                <a:srgbClr val="000000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</a:endParaRPr>
          </a:p>
          <a:p>
            <a:pPr algn="l">
              <a:spcBef>
                <a:spcPct val="0"/>
              </a:spcBef>
            </a:pPr>
            <a:r>
              <a:rPr lang="en-US" sz="2355" b="1" i="1" spc="108" dirty="0" smtClean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The </a:t>
            </a:r>
            <a:r>
              <a:rPr lang="en-US" sz="2355" b="1" i="1" spc="108" dirty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data showed a significant difference in glucose levels between the two groups.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1178" y="3272332"/>
            <a:ext cx="10415275" cy="85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Median Glucose (Diabetic): 140 </a:t>
            </a:r>
          </a:p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Median Glucose (Non-Diabetic): 107.5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09325" y="4494064"/>
            <a:ext cx="10980497" cy="428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  <a:spcBef>
                <a:spcPct val="0"/>
              </a:spcBef>
            </a:pPr>
            <a:r>
              <a:rPr lang="en-US" sz="2255" b="1" i="1" spc="10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This confirmed that Glucose is the most powerful feature for predicting diabetes.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842052" y="8019244"/>
            <a:ext cx="1773118" cy="1773118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5090" y="3200443"/>
            <a:ext cx="13248979" cy="1943057"/>
            <a:chOff x="0" y="0"/>
            <a:chExt cx="3232742" cy="4741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32742" cy="474105"/>
            </a:xfrm>
            <a:custGeom>
              <a:avLst/>
              <a:gdLst/>
              <a:ahLst/>
              <a:cxnLst/>
              <a:rect l="l" t="t" r="r" b="b"/>
              <a:pathLst>
                <a:path w="3232742" h="474105">
                  <a:moveTo>
                    <a:pt x="30386" y="0"/>
                  </a:moveTo>
                  <a:lnTo>
                    <a:pt x="3202356" y="0"/>
                  </a:lnTo>
                  <a:cubicBezTo>
                    <a:pt x="3210415" y="0"/>
                    <a:pt x="3218144" y="3201"/>
                    <a:pt x="3223842" y="8900"/>
                  </a:cubicBezTo>
                  <a:cubicBezTo>
                    <a:pt x="3229541" y="14598"/>
                    <a:pt x="3232742" y="22327"/>
                    <a:pt x="3232742" y="30386"/>
                  </a:cubicBezTo>
                  <a:lnTo>
                    <a:pt x="3232742" y="443719"/>
                  </a:lnTo>
                  <a:cubicBezTo>
                    <a:pt x="3232742" y="451778"/>
                    <a:pt x="3229541" y="459506"/>
                    <a:pt x="3223842" y="465205"/>
                  </a:cubicBezTo>
                  <a:cubicBezTo>
                    <a:pt x="3218144" y="470903"/>
                    <a:pt x="3210415" y="474105"/>
                    <a:pt x="3202356" y="474105"/>
                  </a:cubicBezTo>
                  <a:lnTo>
                    <a:pt x="30386" y="474105"/>
                  </a:lnTo>
                  <a:cubicBezTo>
                    <a:pt x="22327" y="474105"/>
                    <a:pt x="14598" y="470903"/>
                    <a:pt x="8900" y="465205"/>
                  </a:cubicBezTo>
                  <a:cubicBezTo>
                    <a:pt x="3201" y="459506"/>
                    <a:pt x="0" y="451778"/>
                    <a:pt x="0" y="443719"/>
                  </a:cubicBezTo>
                  <a:lnTo>
                    <a:pt x="0" y="30386"/>
                  </a:lnTo>
                  <a:cubicBezTo>
                    <a:pt x="0" y="22327"/>
                    <a:pt x="3201" y="14598"/>
                    <a:pt x="8900" y="8900"/>
                  </a:cubicBezTo>
                  <a:cubicBezTo>
                    <a:pt x="14598" y="3201"/>
                    <a:pt x="22327" y="0"/>
                    <a:pt x="303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232742" cy="512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71471" y="488258"/>
            <a:ext cx="7596757" cy="1080884"/>
            <a:chOff x="0" y="0"/>
            <a:chExt cx="1853604" cy="2637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53604" cy="263735"/>
            </a:xfrm>
            <a:custGeom>
              <a:avLst/>
              <a:gdLst/>
              <a:ahLst/>
              <a:cxnLst/>
              <a:rect l="l" t="t" r="r" b="b"/>
              <a:pathLst>
                <a:path w="1853604" h="263735">
                  <a:moveTo>
                    <a:pt x="52994" y="0"/>
                  </a:moveTo>
                  <a:lnTo>
                    <a:pt x="1800610" y="0"/>
                  </a:lnTo>
                  <a:cubicBezTo>
                    <a:pt x="1814665" y="0"/>
                    <a:pt x="1828144" y="5583"/>
                    <a:pt x="1838082" y="15521"/>
                  </a:cubicBezTo>
                  <a:cubicBezTo>
                    <a:pt x="1848021" y="25460"/>
                    <a:pt x="1853604" y="38939"/>
                    <a:pt x="1853604" y="52994"/>
                  </a:cubicBezTo>
                  <a:lnTo>
                    <a:pt x="1853604" y="210741"/>
                  </a:lnTo>
                  <a:cubicBezTo>
                    <a:pt x="1853604" y="240009"/>
                    <a:pt x="1829878" y="263735"/>
                    <a:pt x="1800610" y="263735"/>
                  </a:cubicBezTo>
                  <a:lnTo>
                    <a:pt x="52994" y="263735"/>
                  </a:lnTo>
                  <a:cubicBezTo>
                    <a:pt x="23726" y="263735"/>
                    <a:pt x="0" y="240009"/>
                    <a:pt x="0" y="210741"/>
                  </a:cubicBezTo>
                  <a:lnTo>
                    <a:pt x="0" y="52994"/>
                  </a:lnTo>
                  <a:cubicBezTo>
                    <a:pt x="0" y="23726"/>
                    <a:pt x="23726" y="0"/>
                    <a:pt x="529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53604" cy="301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5609" y="142141"/>
            <a:ext cx="1773118" cy="177311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492206">
            <a:off x="16499747" y="-1823292"/>
            <a:ext cx="3162010" cy="7294211"/>
            <a:chOff x="0" y="0"/>
            <a:chExt cx="812800" cy="18749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874989"/>
            </a:xfrm>
            <a:custGeom>
              <a:avLst/>
              <a:gdLst/>
              <a:ahLst/>
              <a:cxnLst/>
              <a:rect l="l" t="t" r="r" b="b"/>
              <a:pathLst>
                <a:path w="812800" h="1874989">
                  <a:moveTo>
                    <a:pt x="406400" y="0"/>
                  </a:moveTo>
                  <a:cubicBezTo>
                    <a:pt x="181951" y="0"/>
                    <a:pt x="0" y="419731"/>
                    <a:pt x="0" y="937495"/>
                  </a:cubicBezTo>
                  <a:cubicBezTo>
                    <a:pt x="0" y="1455258"/>
                    <a:pt x="181951" y="1874989"/>
                    <a:pt x="406400" y="1874989"/>
                  </a:cubicBezTo>
                  <a:cubicBezTo>
                    <a:pt x="630849" y="1874989"/>
                    <a:pt x="812800" y="1455258"/>
                    <a:pt x="812800" y="937495"/>
                  </a:cubicBezTo>
                  <a:cubicBezTo>
                    <a:pt x="812800" y="41973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37680"/>
              <a:ext cx="660400" cy="1561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492206">
            <a:off x="-1076989" y="4169737"/>
            <a:ext cx="3162010" cy="7294211"/>
            <a:chOff x="0" y="0"/>
            <a:chExt cx="812800" cy="18749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1874989"/>
            </a:xfrm>
            <a:custGeom>
              <a:avLst/>
              <a:gdLst/>
              <a:ahLst/>
              <a:cxnLst/>
              <a:rect l="l" t="t" r="r" b="b"/>
              <a:pathLst>
                <a:path w="812800" h="1874989">
                  <a:moveTo>
                    <a:pt x="406400" y="0"/>
                  </a:moveTo>
                  <a:cubicBezTo>
                    <a:pt x="181951" y="0"/>
                    <a:pt x="0" y="419731"/>
                    <a:pt x="0" y="937495"/>
                  </a:cubicBezTo>
                  <a:cubicBezTo>
                    <a:pt x="0" y="1455258"/>
                    <a:pt x="181951" y="1874989"/>
                    <a:pt x="406400" y="1874989"/>
                  </a:cubicBezTo>
                  <a:cubicBezTo>
                    <a:pt x="630849" y="1874989"/>
                    <a:pt x="812800" y="1455258"/>
                    <a:pt x="812800" y="937495"/>
                  </a:cubicBezTo>
                  <a:cubicBezTo>
                    <a:pt x="812800" y="41973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37680"/>
              <a:ext cx="660400" cy="1561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25090" y="1538028"/>
            <a:ext cx="12156216" cy="1768092"/>
            <a:chOff x="0" y="0"/>
            <a:chExt cx="2966109" cy="43141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66109" cy="431413"/>
            </a:xfrm>
            <a:custGeom>
              <a:avLst/>
              <a:gdLst/>
              <a:ahLst/>
              <a:cxnLst/>
              <a:rect l="l" t="t" r="r" b="b"/>
              <a:pathLst>
                <a:path w="2966109" h="431413">
                  <a:moveTo>
                    <a:pt x="33117" y="0"/>
                  </a:moveTo>
                  <a:lnTo>
                    <a:pt x="2932992" y="0"/>
                  </a:lnTo>
                  <a:cubicBezTo>
                    <a:pt x="2951282" y="0"/>
                    <a:pt x="2966109" y="14827"/>
                    <a:pt x="2966109" y="33117"/>
                  </a:cubicBezTo>
                  <a:lnTo>
                    <a:pt x="2966109" y="398296"/>
                  </a:lnTo>
                  <a:cubicBezTo>
                    <a:pt x="2966109" y="407079"/>
                    <a:pt x="2962620" y="415503"/>
                    <a:pt x="2956409" y="421714"/>
                  </a:cubicBezTo>
                  <a:cubicBezTo>
                    <a:pt x="2950198" y="427924"/>
                    <a:pt x="2941775" y="431413"/>
                    <a:pt x="2932992" y="431413"/>
                  </a:cubicBezTo>
                  <a:lnTo>
                    <a:pt x="33117" y="431413"/>
                  </a:lnTo>
                  <a:cubicBezTo>
                    <a:pt x="24334" y="431413"/>
                    <a:pt x="15910" y="427924"/>
                    <a:pt x="9700" y="421714"/>
                  </a:cubicBezTo>
                  <a:cubicBezTo>
                    <a:pt x="3489" y="415503"/>
                    <a:pt x="0" y="407079"/>
                    <a:pt x="0" y="398296"/>
                  </a:cubicBezTo>
                  <a:lnTo>
                    <a:pt x="0" y="33117"/>
                  </a:lnTo>
                  <a:cubicBezTo>
                    <a:pt x="0" y="24334"/>
                    <a:pt x="3489" y="15910"/>
                    <a:pt x="9700" y="9700"/>
                  </a:cubicBezTo>
                  <a:cubicBezTo>
                    <a:pt x="15910" y="3489"/>
                    <a:pt x="24334" y="0"/>
                    <a:pt x="3311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966109" cy="469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842052" y="8019244"/>
            <a:ext cx="1773118" cy="1773118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4428067" y="5074334"/>
            <a:ext cx="8791566" cy="5212666"/>
          </a:xfrm>
          <a:custGeom>
            <a:avLst/>
            <a:gdLst/>
            <a:ahLst/>
            <a:cxnLst/>
            <a:rect l="l" t="t" r="r" b="b"/>
            <a:pathLst>
              <a:path w="8791566" h="5212666">
                <a:moveTo>
                  <a:pt x="0" y="0"/>
                </a:moveTo>
                <a:lnTo>
                  <a:pt x="8791566" y="0"/>
                </a:lnTo>
                <a:lnTo>
                  <a:pt x="8791566" y="5212666"/>
                </a:lnTo>
                <a:lnTo>
                  <a:pt x="0" y="5212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235241" y="749053"/>
            <a:ext cx="7596757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Insight #2: The Imbalance Problem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71471" y="1627357"/>
            <a:ext cx="12156216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EDA: An Imbalanced Dataset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71471" y="2165061"/>
            <a:ext cx="12156216" cy="44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  <a:spcBef>
                <a:spcPct val="0"/>
              </a:spcBef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dataset had nearly twice as many non-diabetic records as diabetic ones.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94656" y="2676731"/>
            <a:ext cx="12156216" cy="85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Non-Diabetic (Class 0): 500 patients (65.1%) </a:t>
            </a:r>
          </a:p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Diabetic (Class 1): 268 patients (34.9%)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71471" y="3778950"/>
            <a:ext cx="12156216" cy="85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  <a:spcBef>
                <a:spcPct val="0"/>
              </a:spcBef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Risk: Without careful handling, a model could become very good at just predicting "non-diabetic" while failing to identify the diabetic cases we need to catch.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1044" y="322022"/>
            <a:ext cx="6742037" cy="874081"/>
            <a:chOff x="0" y="0"/>
            <a:chExt cx="1645052" cy="213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052" cy="213275"/>
            </a:xfrm>
            <a:custGeom>
              <a:avLst/>
              <a:gdLst/>
              <a:ahLst/>
              <a:cxnLst/>
              <a:rect l="l" t="t" r="r" b="b"/>
              <a:pathLst>
                <a:path w="1645052" h="213275">
                  <a:moveTo>
                    <a:pt x="59712" y="0"/>
                  </a:moveTo>
                  <a:lnTo>
                    <a:pt x="1585341" y="0"/>
                  </a:lnTo>
                  <a:cubicBezTo>
                    <a:pt x="1618319" y="0"/>
                    <a:pt x="1645052" y="26734"/>
                    <a:pt x="1645052" y="59712"/>
                  </a:cubicBezTo>
                  <a:lnTo>
                    <a:pt x="1645052" y="153563"/>
                  </a:lnTo>
                  <a:cubicBezTo>
                    <a:pt x="1645052" y="169400"/>
                    <a:pt x="1638761" y="184588"/>
                    <a:pt x="1627563" y="195786"/>
                  </a:cubicBezTo>
                  <a:cubicBezTo>
                    <a:pt x="1616365" y="206984"/>
                    <a:pt x="1601177" y="213275"/>
                    <a:pt x="1585341" y="213275"/>
                  </a:cubicBezTo>
                  <a:lnTo>
                    <a:pt x="59712" y="213275"/>
                  </a:lnTo>
                  <a:cubicBezTo>
                    <a:pt x="43875" y="213275"/>
                    <a:pt x="28687" y="206984"/>
                    <a:pt x="17489" y="195786"/>
                  </a:cubicBezTo>
                  <a:cubicBezTo>
                    <a:pt x="6291" y="184588"/>
                    <a:pt x="0" y="169400"/>
                    <a:pt x="0" y="153563"/>
                  </a:cubicBezTo>
                  <a:lnTo>
                    <a:pt x="0" y="59712"/>
                  </a:lnTo>
                  <a:cubicBezTo>
                    <a:pt x="0" y="43875"/>
                    <a:pt x="6291" y="28687"/>
                    <a:pt x="17489" y="17489"/>
                  </a:cubicBezTo>
                  <a:cubicBezTo>
                    <a:pt x="28687" y="6291"/>
                    <a:pt x="43875" y="0"/>
                    <a:pt x="597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5052" cy="2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5132" y="1786132"/>
            <a:ext cx="11530682" cy="1608425"/>
            <a:chOff x="0" y="0"/>
            <a:chExt cx="2813479" cy="3924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3479" cy="392455"/>
            </a:xfrm>
            <a:custGeom>
              <a:avLst/>
              <a:gdLst/>
              <a:ahLst/>
              <a:cxnLst/>
              <a:rect l="l" t="t" r="r" b="b"/>
              <a:pathLst>
                <a:path w="2813479" h="392455">
                  <a:moveTo>
                    <a:pt x="34914" y="0"/>
                  </a:moveTo>
                  <a:lnTo>
                    <a:pt x="2778565" y="0"/>
                  </a:lnTo>
                  <a:cubicBezTo>
                    <a:pt x="2787825" y="0"/>
                    <a:pt x="2796705" y="3678"/>
                    <a:pt x="2803253" y="10226"/>
                  </a:cubicBezTo>
                  <a:cubicBezTo>
                    <a:pt x="2809800" y="16774"/>
                    <a:pt x="2813479" y="25654"/>
                    <a:pt x="2813479" y="34914"/>
                  </a:cubicBezTo>
                  <a:lnTo>
                    <a:pt x="2813479" y="357541"/>
                  </a:lnTo>
                  <a:cubicBezTo>
                    <a:pt x="2813479" y="366800"/>
                    <a:pt x="2809800" y="375681"/>
                    <a:pt x="2803253" y="382229"/>
                  </a:cubicBezTo>
                  <a:cubicBezTo>
                    <a:pt x="2796705" y="388776"/>
                    <a:pt x="2787825" y="392455"/>
                    <a:pt x="2778565" y="392455"/>
                  </a:cubicBezTo>
                  <a:lnTo>
                    <a:pt x="34914" y="392455"/>
                  </a:lnTo>
                  <a:cubicBezTo>
                    <a:pt x="25654" y="392455"/>
                    <a:pt x="16774" y="388776"/>
                    <a:pt x="10226" y="382229"/>
                  </a:cubicBezTo>
                  <a:cubicBezTo>
                    <a:pt x="3678" y="375681"/>
                    <a:pt x="0" y="366800"/>
                    <a:pt x="0" y="357541"/>
                  </a:cubicBezTo>
                  <a:lnTo>
                    <a:pt x="0" y="34914"/>
                  </a:lnTo>
                  <a:cubicBezTo>
                    <a:pt x="0" y="25654"/>
                    <a:pt x="3678" y="16774"/>
                    <a:pt x="10226" y="10226"/>
                  </a:cubicBezTo>
                  <a:cubicBezTo>
                    <a:pt x="16774" y="3678"/>
                    <a:pt x="25654" y="0"/>
                    <a:pt x="349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13479" cy="430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01044" y="4138762"/>
            <a:ext cx="16262249" cy="4932288"/>
            <a:chOff x="0" y="0"/>
            <a:chExt cx="3967978" cy="12034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67978" cy="1203475"/>
            </a:xfrm>
            <a:custGeom>
              <a:avLst/>
              <a:gdLst/>
              <a:ahLst/>
              <a:cxnLst/>
              <a:rect l="l" t="t" r="r" b="b"/>
              <a:pathLst>
                <a:path w="3967978" h="1203475">
                  <a:moveTo>
                    <a:pt x="24755" y="0"/>
                  </a:moveTo>
                  <a:lnTo>
                    <a:pt x="3943222" y="0"/>
                  </a:lnTo>
                  <a:cubicBezTo>
                    <a:pt x="3956895" y="0"/>
                    <a:pt x="3967978" y="11083"/>
                    <a:pt x="3967978" y="24755"/>
                  </a:cubicBezTo>
                  <a:lnTo>
                    <a:pt x="3967978" y="1178720"/>
                  </a:lnTo>
                  <a:cubicBezTo>
                    <a:pt x="3967978" y="1192392"/>
                    <a:pt x="3956895" y="1203475"/>
                    <a:pt x="3943222" y="1203475"/>
                  </a:cubicBezTo>
                  <a:lnTo>
                    <a:pt x="24755" y="1203475"/>
                  </a:lnTo>
                  <a:cubicBezTo>
                    <a:pt x="18190" y="1203475"/>
                    <a:pt x="11893" y="1200867"/>
                    <a:pt x="7251" y="1196224"/>
                  </a:cubicBezTo>
                  <a:cubicBezTo>
                    <a:pt x="2608" y="1191582"/>
                    <a:pt x="0" y="1185285"/>
                    <a:pt x="0" y="1178720"/>
                  </a:cubicBezTo>
                  <a:lnTo>
                    <a:pt x="0" y="24755"/>
                  </a:lnTo>
                  <a:cubicBezTo>
                    <a:pt x="0" y="11083"/>
                    <a:pt x="11083" y="0"/>
                    <a:pt x="2475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967978" cy="1241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33357" y="-43420"/>
            <a:ext cx="2085127" cy="10605688"/>
            <a:chOff x="0" y="0"/>
            <a:chExt cx="508770" cy="25877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8770" cy="2587781"/>
            </a:xfrm>
            <a:custGeom>
              <a:avLst/>
              <a:gdLst/>
              <a:ahLst/>
              <a:cxnLst/>
              <a:rect l="l" t="t" r="r" b="b"/>
              <a:pathLst>
                <a:path w="508770" h="2587781">
                  <a:moveTo>
                    <a:pt x="193072" y="0"/>
                  </a:moveTo>
                  <a:lnTo>
                    <a:pt x="315697" y="0"/>
                  </a:lnTo>
                  <a:cubicBezTo>
                    <a:pt x="422328" y="0"/>
                    <a:pt x="508770" y="86441"/>
                    <a:pt x="508770" y="193072"/>
                  </a:cubicBezTo>
                  <a:lnTo>
                    <a:pt x="508770" y="2394709"/>
                  </a:lnTo>
                  <a:cubicBezTo>
                    <a:pt x="508770" y="2445915"/>
                    <a:pt x="488428" y="2495023"/>
                    <a:pt x="452220" y="2531231"/>
                  </a:cubicBezTo>
                  <a:cubicBezTo>
                    <a:pt x="416012" y="2567439"/>
                    <a:pt x="366903" y="2587781"/>
                    <a:pt x="315697" y="2587781"/>
                  </a:cubicBezTo>
                  <a:lnTo>
                    <a:pt x="193072" y="2587781"/>
                  </a:lnTo>
                  <a:cubicBezTo>
                    <a:pt x="86441" y="2587781"/>
                    <a:pt x="0" y="2501340"/>
                    <a:pt x="0" y="2394709"/>
                  </a:cubicBezTo>
                  <a:lnTo>
                    <a:pt x="0" y="193072"/>
                  </a:lnTo>
                  <a:cubicBezTo>
                    <a:pt x="0" y="86441"/>
                    <a:pt x="86441" y="0"/>
                    <a:pt x="1930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08770" cy="2625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004807" y="1504148"/>
            <a:ext cx="1773118" cy="177311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492206">
            <a:off x="16706995" y="-1860974"/>
            <a:ext cx="3162010" cy="7294211"/>
            <a:chOff x="0" y="0"/>
            <a:chExt cx="812800" cy="187498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1874989"/>
            </a:xfrm>
            <a:custGeom>
              <a:avLst/>
              <a:gdLst/>
              <a:ahLst/>
              <a:cxnLst/>
              <a:rect l="l" t="t" r="r" b="b"/>
              <a:pathLst>
                <a:path w="812800" h="1874989">
                  <a:moveTo>
                    <a:pt x="406400" y="0"/>
                  </a:moveTo>
                  <a:cubicBezTo>
                    <a:pt x="181951" y="0"/>
                    <a:pt x="0" y="419731"/>
                    <a:pt x="0" y="937495"/>
                  </a:cubicBezTo>
                  <a:cubicBezTo>
                    <a:pt x="0" y="1455258"/>
                    <a:pt x="181951" y="1874989"/>
                    <a:pt x="406400" y="1874989"/>
                  </a:cubicBezTo>
                  <a:cubicBezTo>
                    <a:pt x="630849" y="1874989"/>
                    <a:pt x="812800" y="1455258"/>
                    <a:pt x="812800" y="937495"/>
                  </a:cubicBezTo>
                  <a:cubicBezTo>
                    <a:pt x="812800" y="41973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37680"/>
              <a:ext cx="660400" cy="1561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140178" y="507672"/>
            <a:ext cx="6572470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Modeling: From Competition to Champion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40178" y="1919677"/>
            <a:ext cx="11035637" cy="50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 spc="1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 the Best Classifier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40178" y="2639880"/>
            <a:ext cx="11035637" cy="44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  <a:spcBef>
                <a:spcPct val="0"/>
              </a:spcBef>
            </a:pPr>
            <a:r>
              <a:rPr lang="en-US" sz="2355" b="1" i="1" spc="108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We tested multiple models and used advanced tuning to find the best performer.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40178" y="5382162"/>
            <a:ext cx="15923116" cy="210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9093" lvl="1" indent="-259546" algn="l">
              <a:lnSpc>
                <a:spcPts val="5626"/>
              </a:lnSpc>
              <a:buAutoNum type="arabicPeriod"/>
            </a:pPr>
            <a:r>
              <a:rPr lang="en-US" sz="2404" b="1" spc="17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Models Tested: Logistic Regression, Random Forest, and SVM.</a:t>
            </a:r>
          </a:p>
          <a:p>
            <a:pPr marL="519093" lvl="1" indent="-259546" algn="l">
              <a:lnSpc>
                <a:spcPts val="5626"/>
              </a:lnSpc>
              <a:buAutoNum type="arabicPeriod"/>
            </a:pPr>
            <a:r>
              <a:rPr lang="en-US" sz="2404" b="1" spc="17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Tuning: Used GridSearchCV to find the optimal parameters for the top models. </a:t>
            </a:r>
          </a:p>
          <a:p>
            <a:pPr marL="519093" lvl="1" indent="-259546" algn="l">
              <a:lnSpc>
                <a:spcPts val="5626"/>
              </a:lnSpc>
              <a:buAutoNum type="arabicPeriod"/>
            </a:pPr>
            <a:r>
              <a:rPr lang="en-US" sz="2404" b="1" spc="17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Champion Model: Random Forest consistently showed the highest initial accuracy (78%).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84818" y="6846752"/>
            <a:ext cx="6880497" cy="688049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8671051"/>
            <a:ext cx="1290369" cy="12903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55242" y="230427"/>
            <a:ext cx="7493084" cy="911317"/>
            <a:chOff x="0" y="0"/>
            <a:chExt cx="1828308" cy="2223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8308" cy="222361"/>
            </a:xfrm>
            <a:custGeom>
              <a:avLst/>
              <a:gdLst/>
              <a:ahLst/>
              <a:cxnLst/>
              <a:rect l="l" t="t" r="r" b="b"/>
              <a:pathLst>
                <a:path w="1828308" h="222361">
                  <a:moveTo>
                    <a:pt x="53727" y="0"/>
                  </a:moveTo>
                  <a:lnTo>
                    <a:pt x="1774581" y="0"/>
                  </a:lnTo>
                  <a:cubicBezTo>
                    <a:pt x="1804253" y="0"/>
                    <a:pt x="1828308" y="24054"/>
                    <a:pt x="1828308" y="53727"/>
                  </a:cubicBezTo>
                  <a:lnTo>
                    <a:pt x="1828308" y="168634"/>
                  </a:lnTo>
                  <a:cubicBezTo>
                    <a:pt x="1828308" y="198306"/>
                    <a:pt x="1804253" y="222361"/>
                    <a:pt x="1774581" y="222361"/>
                  </a:cubicBezTo>
                  <a:lnTo>
                    <a:pt x="53727" y="222361"/>
                  </a:lnTo>
                  <a:cubicBezTo>
                    <a:pt x="24054" y="222361"/>
                    <a:pt x="0" y="198306"/>
                    <a:pt x="0" y="168634"/>
                  </a:cubicBezTo>
                  <a:lnTo>
                    <a:pt x="0" y="53727"/>
                  </a:lnTo>
                  <a:cubicBezTo>
                    <a:pt x="0" y="24054"/>
                    <a:pt x="24054" y="0"/>
                    <a:pt x="537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28308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0386" y="1673885"/>
            <a:ext cx="12685608" cy="1533062"/>
            <a:chOff x="0" y="0"/>
            <a:chExt cx="3095280" cy="3740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95280" cy="374066"/>
            </a:xfrm>
            <a:custGeom>
              <a:avLst/>
              <a:gdLst/>
              <a:ahLst/>
              <a:cxnLst/>
              <a:rect l="l" t="t" r="r" b="b"/>
              <a:pathLst>
                <a:path w="3095280" h="374066">
                  <a:moveTo>
                    <a:pt x="31735" y="0"/>
                  </a:moveTo>
                  <a:lnTo>
                    <a:pt x="3063545" y="0"/>
                  </a:lnTo>
                  <a:cubicBezTo>
                    <a:pt x="3071961" y="0"/>
                    <a:pt x="3080033" y="3344"/>
                    <a:pt x="3085985" y="9295"/>
                  </a:cubicBezTo>
                  <a:cubicBezTo>
                    <a:pt x="3091936" y="15247"/>
                    <a:pt x="3095280" y="23318"/>
                    <a:pt x="3095280" y="31735"/>
                  </a:cubicBezTo>
                  <a:lnTo>
                    <a:pt x="3095280" y="342331"/>
                  </a:lnTo>
                  <a:cubicBezTo>
                    <a:pt x="3095280" y="359858"/>
                    <a:pt x="3081072" y="374066"/>
                    <a:pt x="3063545" y="374066"/>
                  </a:cubicBezTo>
                  <a:lnTo>
                    <a:pt x="31735" y="374066"/>
                  </a:lnTo>
                  <a:cubicBezTo>
                    <a:pt x="14208" y="374066"/>
                    <a:pt x="0" y="359858"/>
                    <a:pt x="0" y="342331"/>
                  </a:cubicBezTo>
                  <a:lnTo>
                    <a:pt x="0" y="31735"/>
                  </a:lnTo>
                  <a:cubicBezTo>
                    <a:pt x="0" y="23318"/>
                    <a:pt x="3344" y="15247"/>
                    <a:pt x="9295" y="9295"/>
                  </a:cubicBezTo>
                  <a:cubicBezTo>
                    <a:pt x="15247" y="3344"/>
                    <a:pt x="23318" y="0"/>
                    <a:pt x="317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095280" cy="412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3327204" y="-3440248"/>
            <a:ext cx="6880497" cy="688049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90053" y="8802641"/>
            <a:ext cx="4158273" cy="911317"/>
            <a:chOff x="0" y="0"/>
            <a:chExt cx="1014616" cy="2223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4616" cy="222361"/>
            </a:xfrm>
            <a:custGeom>
              <a:avLst/>
              <a:gdLst/>
              <a:ahLst/>
              <a:cxnLst/>
              <a:rect l="l" t="t" r="r" b="b"/>
              <a:pathLst>
                <a:path w="1014616" h="222361">
                  <a:moveTo>
                    <a:pt x="96814" y="0"/>
                  </a:moveTo>
                  <a:lnTo>
                    <a:pt x="917802" y="0"/>
                  </a:lnTo>
                  <a:cubicBezTo>
                    <a:pt x="943478" y="0"/>
                    <a:pt x="968104" y="10200"/>
                    <a:pt x="986260" y="28356"/>
                  </a:cubicBezTo>
                  <a:cubicBezTo>
                    <a:pt x="1004416" y="46512"/>
                    <a:pt x="1014616" y="71137"/>
                    <a:pt x="1014616" y="96814"/>
                  </a:cubicBezTo>
                  <a:lnTo>
                    <a:pt x="1014616" y="125547"/>
                  </a:lnTo>
                  <a:cubicBezTo>
                    <a:pt x="1014616" y="179016"/>
                    <a:pt x="971271" y="222361"/>
                    <a:pt x="917802" y="222361"/>
                  </a:cubicBezTo>
                  <a:lnTo>
                    <a:pt x="96814" y="222361"/>
                  </a:lnTo>
                  <a:cubicBezTo>
                    <a:pt x="71137" y="222361"/>
                    <a:pt x="46512" y="212161"/>
                    <a:pt x="28356" y="194005"/>
                  </a:cubicBezTo>
                  <a:cubicBezTo>
                    <a:pt x="10200" y="175848"/>
                    <a:pt x="0" y="151223"/>
                    <a:pt x="0" y="125547"/>
                  </a:cubicBezTo>
                  <a:lnTo>
                    <a:pt x="0" y="96814"/>
                  </a:lnTo>
                  <a:cubicBezTo>
                    <a:pt x="0" y="71137"/>
                    <a:pt x="10200" y="46512"/>
                    <a:pt x="28356" y="28356"/>
                  </a:cubicBezTo>
                  <a:cubicBezTo>
                    <a:pt x="46512" y="10200"/>
                    <a:pt x="71137" y="0"/>
                    <a:pt x="96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14616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0386" y="3967405"/>
            <a:ext cx="14810956" cy="4398846"/>
            <a:chOff x="0" y="0"/>
            <a:chExt cx="3613863" cy="10733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13863" cy="1073315"/>
            </a:xfrm>
            <a:custGeom>
              <a:avLst/>
              <a:gdLst/>
              <a:ahLst/>
              <a:cxnLst/>
              <a:rect l="l" t="t" r="r" b="b"/>
              <a:pathLst>
                <a:path w="3613863" h="1073315">
                  <a:moveTo>
                    <a:pt x="27181" y="0"/>
                  </a:moveTo>
                  <a:lnTo>
                    <a:pt x="3586682" y="0"/>
                  </a:lnTo>
                  <a:cubicBezTo>
                    <a:pt x="3601694" y="0"/>
                    <a:pt x="3613863" y="12169"/>
                    <a:pt x="3613863" y="27181"/>
                  </a:cubicBezTo>
                  <a:lnTo>
                    <a:pt x="3613863" y="1046134"/>
                  </a:lnTo>
                  <a:cubicBezTo>
                    <a:pt x="3613863" y="1053343"/>
                    <a:pt x="3610999" y="1060257"/>
                    <a:pt x="3605902" y="1065354"/>
                  </a:cubicBezTo>
                  <a:cubicBezTo>
                    <a:pt x="3600805" y="1070452"/>
                    <a:pt x="3593891" y="1073315"/>
                    <a:pt x="3586682" y="1073315"/>
                  </a:cubicBezTo>
                  <a:lnTo>
                    <a:pt x="27181" y="1073315"/>
                  </a:lnTo>
                  <a:cubicBezTo>
                    <a:pt x="19972" y="1073315"/>
                    <a:pt x="13059" y="1070452"/>
                    <a:pt x="7961" y="1065354"/>
                  </a:cubicBezTo>
                  <a:cubicBezTo>
                    <a:pt x="2864" y="1060257"/>
                    <a:pt x="0" y="1053343"/>
                    <a:pt x="0" y="1046134"/>
                  </a:cubicBezTo>
                  <a:lnTo>
                    <a:pt x="0" y="27181"/>
                  </a:lnTo>
                  <a:cubicBezTo>
                    <a:pt x="0" y="19972"/>
                    <a:pt x="2864" y="13059"/>
                    <a:pt x="7961" y="7961"/>
                  </a:cubicBezTo>
                  <a:cubicBezTo>
                    <a:pt x="13059" y="2864"/>
                    <a:pt x="19972" y="0"/>
                    <a:pt x="271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613863" cy="1111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553293" y="409931"/>
            <a:ext cx="7493084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Critical Twist: Why Accuracy Isn't Enough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73885" y="1726797"/>
            <a:ext cx="11430799" cy="50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 spc="1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False Negative is Not an Option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73885" y="2514732"/>
            <a:ext cx="12222110" cy="44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  <a:spcBef>
                <a:spcPct val="0"/>
              </a:spcBef>
            </a:pPr>
            <a:r>
              <a:rPr lang="en-US" sz="2355" b="1" i="1" spc="108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In healthcare, failing to identify a sick person is far more dangerous than a false alarm.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73885" y="4978323"/>
            <a:ext cx="13717481" cy="148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8253" lvl="1" indent="-269127" algn="l">
              <a:lnSpc>
                <a:spcPts val="5559"/>
              </a:lnSpc>
              <a:buFont typeface="Arial"/>
              <a:buChar char="•"/>
            </a:pPr>
            <a:r>
              <a:rPr lang="en-US" sz="2493" b="1" spc="132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Priority: Maximize Recall for the diabetic class (Class 1). </a:t>
            </a:r>
          </a:p>
          <a:p>
            <a:pPr marL="612026" lvl="1" indent="-342900" algn="l">
              <a:buFont typeface="Arial" panose="020B0604020202020204" pitchFamily="34" charset="0"/>
              <a:buChar char="•"/>
            </a:pPr>
            <a:r>
              <a:rPr lang="en-US" sz="2493" b="1" spc="132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this means: We want our model to "catch" as many true diabetic cases as </a:t>
            </a:r>
            <a:r>
              <a:rPr lang="en-US" sz="2493" b="1" spc="132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possible</a:t>
            </a:r>
            <a:endParaRPr lang="en-US" sz="2493" b="1" spc="132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675722" y="6556933"/>
            <a:ext cx="15547316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559" lvl="1" indent="-254280" algn="l">
              <a:lnSpc>
                <a:spcPts val="3297"/>
              </a:lnSpc>
              <a:buFont typeface="Arial"/>
              <a:buChar char="•"/>
            </a:pPr>
            <a:r>
              <a:rPr lang="en-US" sz="2355" b="1" spc="108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 deliberately shifted our focus from pure accuracy to maximizing this critical </a:t>
            </a:r>
            <a:r>
              <a:rPr lang="en-US" sz="2355" b="1" spc="108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metric.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84818" y="6846752"/>
            <a:ext cx="6880497" cy="688049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8671051"/>
            <a:ext cx="1290369" cy="12903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55242" y="230427"/>
            <a:ext cx="7493084" cy="911317"/>
            <a:chOff x="0" y="0"/>
            <a:chExt cx="1828308" cy="2223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8308" cy="222361"/>
            </a:xfrm>
            <a:custGeom>
              <a:avLst/>
              <a:gdLst/>
              <a:ahLst/>
              <a:cxnLst/>
              <a:rect l="l" t="t" r="r" b="b"/>
              <a:pathLst>
                <a:path w="1828308" h="222361">
                  <a:moveTo>
                    <a:pt x="53727" y="0"/>
                  </a:moveTo>
                  <a:lnTo>
                    <a:pt x="1774581" y="0"/>
                  </a:lnTo>
                  <a:cubicBezTo>
                    <a:pt x="1804253" y="0"/>
                    <a:pt x="1828308" y="24054"/>
                    <a:pt x="1828308" y="53727"/>
                  </a:cubicBezTo>
                  <a:lnTo>
                    <a:pt x="1828308" y="168634"/>
                  </a:lnTo>
                  <a:cubicBezTo>
                    <a:pt x="1828308" y="198306"/>
                    <a:pt x="1804253" y="222361"/>
                    <a:pt x="1774581" y="222361"/>
                  </a:cubicBezTo>
                  <a:lnTo>
                    <a:pt x="53727" y="222361"/>
                  </a:lnTo>
                  <a:cubicBezTo>
                    <a:pt x="24054" y="222361"/>
                    <a:pt x="0" y="198306"/>
                    <a:pt x="0" y="168634"/>
                  </a:cubicBezTo>
                  <a:lnTo>
                    <a:pt x="0" y="53727"/>
                  </a:lnTo>
                  <a:cubicBezTo>
                    <a:pt x="0" y="24054"/>
                    <a:pt x="24054" y="0"/>
                    <a:pt x="537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28308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0386" y="1673885"/>
            <a:ext cx="12685608" cy="1533062"/>
            <a:chOff x="0" y="0"/>
            <a:chExt cx="3095280" cy="3740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95280" cy="374066"/>
            </a:xfrm>
            <a:custGeom>
              <a:avLst/>
              <a:gdLst/>
              <a:ahLst/>
              <a:cxnLst/>
              <a:rect l="l" t="t" r="r" b="b"/>
              <a:pathLst>
                <a:path w="3095280" h="374066">
                  <a:moveTo>
                    <a:pt x="31735" y="0"/>
                  </a:moveTo>
                  <a:lnTo>
                    <a:pt x="3063545" y="0"/>
                  </a:lnTo>
                  <a:cubicBezTo>
                    <a:pt x="3071961" y="0"/>
                    <a:pt x="3080033" y="3344"/>
                    <a:pt x="3085985" y="9295"/>
                  </a:cubicBezTo>
                  <a:cubicBezTo>
                    <a:pt x="3091936" y="15247"/>
                    <a:pt x="3095280" y="23318"/>
                    <a:pt x="3095280" y="31735"/>
                  </a:cubicBezTo>
                  <a:lnTo>
                    <a:pt x="3095280" y="342331"/>
                  </a:lnTo>
                  <a:cubicBezTo>
                    <a:pt x="3095280" y="359858"/>
                    <a:pt x="3081072" y="374066"/>
                    <a:pt x="3063545" y="374066"/>
                  </a:cubicBezTo>
                  <a:lnTo>
                    <a:pt x="31735" y="374066"/>
                  </a:lnTo>
                  <a:cubicBezTo>
                    <a:pt x="14208" y="374066"/>
                    <a:pt x="0" y="359858"/>
                    <a:pt x="0" y="342331"/>
                  </a:cubicBezTo>
                  <a:lnTo>
                    <a:pt x="0" y="31735"/>
                  </a:lnTo>
                  <a:cubicBezTo>
                    <a:pt x="0" y="23318"/>
                    <a:pt x="3344" y="15247"/>
                    <a:pt x="9295" y="9295"/>
                  </a:cubicBezTo>
                  <a:cubicBezTo>
                    <a:pt x="15247" y="3344"/>
                    <a:pt x="23318" y="0"/>
                    <a:pt x="317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095280" cy="412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3327204" y="-3440248"/>
            <a:ext cx="6880497" cy="688049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90053" y="8802641"/>
            <a:ext cx="4158273" cy="911317"/>
            <a:chOff x="0" y="0"/>
            <a:chExt cx="1014616" cy="2223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4616" cy="222361"/>
            </a:xfrm>
            <a:custGeom>
              <a:avLst/>
              <a:gdLst/>
              <a:ahLst/>
              <a:cxnLst/>
              <a:rect l="l" t="t" r="r" b="b"/>
              <a:pathLst>
                <a:path w="1014616" h="222361">
                  <a:moveTo>
                    <a:pt x="96814" y="0"/>
                  </a:moveTo>
                  <a:lnTo>
                    <a:pt x="917802" y="0"/>
                  </a:lnTo>
                  <a:cubicBezTo>
                    <a:pt x="943478" y="0"/>
                    <a:pt x="968104" y="10200"/>
                    <a:pt x="986260" y="28356"/>
                  </a:cubicBezTo>
                  <a:cubicBezTo>
                    <a:pt x="1004416" y="46512"/>
                    <a:pt x="1014616" y="71137"/>
                    <a:pt x="1014616" y="96814"/>
                  </a:cubicBezTo>
                  <a:lnTo>
                    <a:pt x="1014616" y="125547"/>
                  </a:lnTo>
                  <a:cubicBezTo>
                    <a:pt x="1014616" y="179016"/>
                    <a:pt x="971271" y="222361"/>
                    <a:pt x="917802" y="222361"/>
                  </a:cubicBezTo>
                  <a:lnTo>
                    <a:pt x="96814" y="222361"/>
                  </a:lnTo>
                  <a:cubicBezTo>
                    <a:pt x="71137" y="222361"/>
                    <a:pt x="46512" y="212161"/>
                    <a:pt x="28356" y="194005"/>
                  </a:cubicBezTo>
                  <a:cubicBezTo>
                    <a:pt x="10200" y="175848"/>
                    <a:pt x="0" y="151223"/>
                    <a:pt x="0" y="125547"/>
                  </a:cubicBezTo>
                  <a:lnTo>
                    <a:pt x="0" y="96814"/>
                  </a:lnTo>
                  <a:cubicBezTo>
                    <a:pt x="0" y="71137"/>
                    <a:pt x="10200" y="46512"/>
                    <a:pt x="28356" y="28356"/>
                  </a:cubicBezTo>
                  <a:cubicBezTo>
                    <a:pt x="46512" y="10200"/>
                    <a:pt x="71137" y="0"/>
                    <a:pt x="96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14616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0386" y="3967405"/>
            <a:ext cx="15274454" cy="4398846"/>
            <a:chOff x="0" y="0"/>
            <a:chExt cx="3726957" cy="10733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26957" cy="1073315"/>
            </a:xfrm>
            <a:custGeom>
              <a:avLst/>
              <a:gdLst/>
              <a:ahLst/>
              <a:cxnLst/>
              <a:rect l="l" t="t" r="r" b="b"/>
              <a:pathLst>
                <a:path w="3726957" h="1073315">
                  <a:moveTo>
                    <a:pt x="26356" y="0"/>
                  </a:moveTo>
                  <a:lnTo>
                    <a:pt x="3700600" y="0"/>
                  </a:lnTo>
                  <a:cubicBezTo>
                    <a:pt x="3715157" y="0"/>
                    <a:pt x="3726957" y="11800"/>
                    <a:pt x="3726957" y="26356"/>
                  </a:cubicBezTo>
                  <a:lnTo>
                    <a:pt x="3726957" y="1046959"/>
                  </a:lnTo>
                  <a:cubicBezTo>
                    <a:pt x="3726957" y="1061515"/>
                    <a:pt x="3715157" y="1073315"/>
                    <a:pt x="3700600" y="1073315"/>
                  </a:cubicBezTo>
                  <a:lnTo>
                    <a:pt x="26356" y="1073315"/>
                  </a:lnTo>
                  <a:cubicBezTo>
                    <a:pt x="11800" y="1073315"/>
                    <a:pt x="0" y="1061515"/>
                    <a:pt x="0" y="1046959"/>
                  </a:cubicBezTo>
                  <a:lnTo>
                    <a:pt x="0" y="26356"/>
                  </a:lnTo>
                  <a:cubicBezTo>
                    <a:pt x="0" y="11800"/>
                    <a:pt x="11800" y="0"/>
                    <a:pt x="263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726957" cy="1111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972631" y="406439"/>
            <a:ext cx="7493084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Solution: A Refined &amp; Balanced Model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99210" y="1896364"/>
            <a:ext cx="12685608" cy="50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 spc="1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Final Model: A Balanced Random Forest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73885" y="2489952"/>
            <a:ext cx="12685608" cy="44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  <a:spcBef>
                <a:spcPct val="0"/>
              </a:spcBef>
            </a:pPr>
            <a:r>
              <a:rPr lang="en-US" sz="2355" b="1" i="1" spc="108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We refined our best model to be more sensitive to the diabetic class.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73885" y="4303278"/>
            <a:ext cx="14810956" cy="355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4004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Model: Random Forest Classifier </a:t>
            </a:r>
          </a:p>
          <a:p>
            <a:pPr marL="508559" lvl="1" indent="-254280" algn="l">
              <a:lnSpc>
                <a:spcPts val="4004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Technique #1: Class Weight Balancing </a:t>
            </a:r>
          </a:p>
          <a:p>
            <a:pPr marL="508559" lvl="1" indent="-254280" algn="l">
              <a:lnSpc>
                <a:spcPts val="4004"/>
              </a:lnSpc>
              <a:buFont typeface="Arial"/>
              <a:buChar char="•"/>
            </a:pPr>
            <a:r>
              <a:rPr lang="en-US" sz="2355" spc="1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trained the model with class weight="balanced" to give more importance to the under-represented diabetic cases. </a:t>
            </a:r>
          </a:p>
          <a:p>
            <a:pPr marL="508559" lvl="1" indent="-254280" algn="l">
              <a:lnSpc>
                <a:spcPts val="4004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Technique #2: Threshold Tuning </a:t>
            </a:r>
          </a:p>
          <a:p>
            <a:pPr marL="508559" lvl="1" indent="-254280" algn="l">
              <a:lnSpc>
                <a:spcPts val="4004"/>
              </a:lnSpc>
              <a:buFont typeface="Arial"/>
              <a:buChar char="•"/>
            </a:pPr>
            <a:r>
              <a:rPr lang="en-US" sz="2355" spc="1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adjusted the decision boundary from 0.50 down to 0.45, making the model more likely to predict "diabetic" in borderline cases.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671051"/>
            <a:ext cx="1290369" cy="12903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55242" y="230427"/>
            <a:ext cx="7493084" cy="911317"/>
            <a:chOff x="0" y="0"/>
            <a:chExt cx="1828308" cy="2223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308" cy="222361"/>
            </a:xfrm>
            <a:custGeom>
              <a:avLst/>
              <a:gdLst/>
              <a:ahLst/>
              <a:cxnLst/>
              <a:rect l="l" t="t" r="r" b="b"/>
              <a:pathLst>
                <a:path w="1828308" h="222361">
                  <a:moveTo>
                    <a:pt x="53727" y="0"/>
                  </a:moveTo>
                  <a:lnTo>
                    <a:pt x="1774581" y="0"/>
                  </a:lnTo>
                  <a:cubicBezTo>
                    <a:pt x="1804253" y="0"/>
                    <a:pt x="1828308" y="24054"/>
                    <a:pt x="1828308" y="53727"/>
                  </a:cubicBezTo>
                  <a:lnTo>
                    <a:pt x="1828308" y="168634"/>
                  </a:lnTo>
                  <a:cubicBezTo>
                    <a:pt x="1828308" y="198306"/>
                    <a:pt x="1804253" y="222361"/>
                    <a:pt x="1774581" y="222361"/>
                  </a:cubicBezTo>
                  <a:lnTo>
                    <a:pt x="53727" y="222361"/>
                  </a:lnTo>
                  <a:cubicBezTo>
                    <a:pt x="24054" y="222361"/>
                    <a:pt x="0" y="198306"/>
                    <a:pt x="0" y="168634"/>
                  </a:cubicBezTo>
                  <a:lnTo>
                    <a:pt x="0" y="53727"/>
                  </a:lnTo>
                  <a:cubicBezTo>
                    <a:pt x="0" y="24054"/>
                    <a:pt x="24054" y="0"/>
                    <a:pt x="537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28308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3327204" y="-3440248"/>
            <a:ext cx="6880497" cy="688049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0386" y="1673885"/>
            <a:ext cx="14418956" cy="1533062"/>
            <a:chOff x="0" y="0"/>
            <a:chExt cx="3518216" cy="3740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18216" cy="374066"/>
            </a:xfrm>
            <a:custGeom>
              <a:avLst/>
              <a:gdLst/>
              <a:ahLst/>
              <a:cxnLst/>
              <a:rect l="l" t="t" r="r" b="b"/>
              <a:pathLst>
                <a:path w="3518216" h="374066">
                  <a:moveTo>
                    <a:pt x="27920" y="0"/>
                  </a:moveTo>
                  <a:lnTo>
                    <a:pt x="3490296" y="0"/>
                  </a:lnTo>
                  <a:cubicBezTo>
                    <a:pt x="3497700" y="0"/>
                    <a:pt x="3504802" y="2942"/>
                    <a:pt x="3510038" y="8178"/>
                  </a:cubicBezTo>
                  <a:cubicBezTo>
                    <a:pt x="3515274" y="13414"/>
                    <a:pt x="3518216" y="20515"/>
                    <a:pt x="3518216" y="27920"/>
                  </a:cubicBezTo>
                  <a:lnTo>
                    <a:pt x="3518216" y="346146"/>
                  </a:lnTo>
                  <a:cubicBezTo>
                    <a:pt x="3518216" y="353551"/>
                    <a:pt x="3515274" y="360652"/>
                    <a:pt x="3510038" y="365888"/>
                  </a:cubicBezTo>
                  <a:cubicBezTo>
                    <a:pt x="3504802" y="371124"/>
                    <a:pt x="3497700" y="374066"/>
                    <a:pt x="3490296" y="374066"/>
                  </a:cubicBezTo>
                  <a:lnTo>
                    <a:pt x="27920" y="374066"/>
                  </a:lnTo>
                  <a:cubicBezTo>
                    <a:pt x="20515" y="374066"/>
                    <a:pt x="13414" y="371124"/>
                    <a:pt x="8178" y="365888"/>
                  </a:cubicBezTo>
                  <a:cubicBezTo>
                    <a:pt x="2942" y="360652"/>
                    <a:pt x="0" y="353551"/>
                    <a:pt x="0" y="346146"/>
                  </a:cubicBezTo>
                  <a:lnTo>
                    <a:pt x="0" y="27920"/>
                  </a:lnTo>
                  <a:cubicBezTo>
                    <a:pt x="0" y="20515"/>
                    <a:pt x="2942" y="13414"/>
                    <a:pt x="8178" y="8178"/>
                  </a:cubicBezTo>
                  <a:cubicBezTo>
                    <a:pt x="13414" y="2942"/>
                    <a:pt x="20515" y="0"/>
                    <a:pt x="2792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518216" cy="412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92978" y="9258300"/>
            <a:ext cx="12278632" cy="911317"/>
            <a:chOff x="0" y="0"/>
            <a:chExt cx="2995978" cy="2223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95978" cy="222361"/>
            </a:xfrm>
            <a:custGeom>
              <a:avLst/>
              <a:gdLst/>
              <a:ahLst/>
              <a:cxnLst/>
              <a:rect l="l" t="t" r="r" b="b"/>
              <a:pathLst>
                <a:path w="2995978" h="222361">
                  <a:moveTo>
                    <a:pt x="32787" y="0"/>
                  </a:moveTo>
                  <a:lnTo>
                    <a:pt x="2963191" y="0"/>
                  </a:lnTo>
                  <a:cubicBezTo>
                    <a:pt x="2971887" y="0"/>
                    <a:pt x="2980226" y="3454"/>
                    <a:pt x="2986375" y="9603"/>
                  </a:cubicBezTo>
                  <a:cubicBezTo>
                    <a:pt x="2992524" y="15752"/>
                    <a:pt x="2995978" y="24091"/>
                    <a:pt x="2995978" y="32787"/>
                  </a:cubicBezTo>
                  <a:lnTo>
                    <a:pt x="2995978" y="189574"/>
                  </a:lnTo>
                  <a:cubicBezTo>
                    <a:pt x="2995978" y="198269"/>
                    <a:pt x="2992524" y="206609"/>
                    <a:pt x="2986375" y="212758"/>
                  </a:cubicBezTo>
                  <a:cubicBezTo>
                    <a:pt x="2980226" y="218906"/>
                    <a:pt x="2971887" y="222361"/>
                    <a:pt x="2963191" y="222361"/>
                  </a:cubicBezTo>
                  <a:lnTo>
                    <a:pt x="32787" y="222361"/>
                  </a:lnTo>
                  <a:cubicBezTo>
                    <a:pt x="24091" y="222361"/>
                    <a:pt x="15752" y="218906"/>
                    <a:pt x="9603" y="212758"/>
                  </a:cubicBezTo>
                  <a:cubicBezTo>
                    <a:pt x="3454" y="206609"/>
                    <a:pt x="0" y="198269"/>
                    <a:pt x="0" y="189574"/>
                  </a:cubicBezTo>
                  <a:lnTo>
                    <a:pt x="0" y="32787"/>
                  </a:lnTo>
                  <a:cubicBezTo>
                    <a:pt x="0" y="24091"/>
                    <a:pt x="3454" y="15752"/>
                    <a:pt x="9603" y="9603"/>
                  </a:cubicBezTo>
                  <a:cubicBezTo>
                    <a:pt x="15752" y="3454"/>
                    <a:pt x="24091" y="0"/>
                    <a:pt x="3278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995978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0386" y="3967405"/>
            <a:ext cx="14810956" cy="4398846"/>
            <a:chOff x="0" y="0"/>
            <a:chExt cx="3613863" cy="10733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13863" cy="1073315"/>
            </a:xfrm>
            <a:custGeom>
              <a:avLst/>
              <a:gdLst/>
              <a:ahLst/>
              <a:cxnLst/>
              <a:rect l="l" t="t" r="r" b="b"/>
              <a:pathLst>
                <a:path w="3613863" h="1073315">
                  <a:moveTo>
                    <a:pt x="27181" y="0"/>
                  </a:moveTo>
                  <a:lnTo>
                    <a:pt x="3586682" y="0"/>
                  </a:lnTo>
                  <a:cubicBezTo>
                    <a:pt x="3601694" y="0"/>
                    <a:pt x="3613863" y="12169"/>
                    <a:pt x="3613863" y="27181"/>
                  </a:cubicBezTo>
                  <a:lnTo>
                    <a:pt x="3613863" y="1046134"/>
                  </a:lnTo>
                  <a:cubicBezTo>
                    <a:pt x="3613863" y="1053343"/>
                    <a:pt x="3610999" y="1060257"/>
                    <a:pt x="3605902" y="1065354"/>
                  </a:cubicBezTo>
                  <a:cubicBezTo>
                    <a:pt x="3600805" y="1070452"/>
                    <a:pt x="3593891" y="1073315"/>
                    <a:pt x="3586682" y="1073315"/>
                  </a:cubicBezTo>
                  <a:lnTo>
                    <a:pt x="27181" y="1073315"/>
                  </a:lnTo>
                  <a:cubicBezTo>
                    <a:pt x="19972" y="1073315"/>
                    <a:pt x="13059" y="1070452"/>
                    <a:pt x="7961" y="1065354"/>
                  </a:cubicBezTo>
                  <a:cubicBezTo>
                    <a:pt x="2864" y="1060257"/>
                    <a:pt x="0" y="1053343"/>
                    <a:pt x="0" y="1046134"/>
                  </a:cubicBezTo>
                  <a:lnTo>
                    <a:pt x="0" y="27181"/>
                  </a:lnTo>
                  <a:cubicBezTo>
                    <a:pt x="0" y="19972"/>
                    <a:pt x="2864" y="13059"/>
                    <a:pt x="7961" y="7961"/>
                  </a:cubicBezTo>
                  <a:cubicBezTo>
                    <a:pt x="13059" y="2864"/>
                    <a:pt x="19972" y="0"/>
                    <a:pt x="271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613863" cy="1111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0573975" y="3464121"/>
            <a:ext cx="7714025" cy="6015992"/>
          </a:xfrm>
          <a:custGeom>
            <a:avLst/>
            <a:gdLst/>
            <a:ahLst/>
            <a:cxnLst/>
            <a:rect l="l" t="t" r="r" b="b"/>
            <a:pathLst>
              <a:path w="7714025" h="6015992">
                <a:moveTo>
                  <a:pt x="0" y="0"/>
                </a:moveTo>
                <a:lnTo>
                  <a:pt x="7714025" y="0"/>
                </a:lnTo>
                <a:lnTo>
                  <a:pt x="7714025" y="6015992"/>
                </a:lnTo>
                <a:lnTo>
                  <a:pt x="0" y="6015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553293" y="406439"/>
            <a:ext cx="7493084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Results: High Recall &amp; High Confidence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88653" y="1802160"/>
            <a:ext cx="12685608" cy="50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 spc="1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Performance: Ready for Pre-Screening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61746" y="2471180"/>
            <a:ext cx="13508236" cy="44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  <a:spcBef>
                <a:spcPct val="0"/>
              </a:spcBef>
            </a:pPr>
            <a:r>
              <a:rPr lang="en-US" sz="2355" b="1" i="1" spc="108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Our final model successfully identifies 80% of diabetic patients with excellent overall performance.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6636" y="4519330"/>
            <a:ext cx="14810956" cy="1844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4875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Recall (Diabetic): 80% </a:t>
            </a:r>
          </a:p>
          <a:p>
            <a:pPr marL="508559" lvl="1" indent="-254280" algn="l">
              <a:lnSpc>
                <a:spcPts val="4875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Accuracy: 79% (from the balanced model) </a:t>
            </a:r>
          </a:p>
          <a:p>
            <a:pPr marL="508559" lvl="1" indent="-254280" algn="l">
              <a:lnSpc>
                <a:spcPts val="4875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AUC Score: 0.84 (Excellent at distinguishing between classes)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84818" y="6846752"/>
            <a:ext cx="6880497" cy="688049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8671051"/>
            <a:ext cx="1290369" cy="12903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55242" y="230427"/>
            <a:ext cx="7493084" cy="911317"/>
            <a:chOff x="0" y="0"/>
            <a:chExt cx="1828308" cy="2223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8308" cy="222361"/>
            </a:xfrm>
            <a:custGeom>
              <a:avLst/>
              <a:gdLst/>
              <a:ahLst/>
              <a:cxnLst/>
              <a:rect l="l" t="t" r="r" b="b"/>
              <a:pathLst>
                <a:path w="1828308" h="222361">
                  <a:moveTo>
                    <a:pt x="53727" y="0"/>
                  </a:moveTo>
                  <a:lnTo>
                    <a:pt x="1774581" y="0"/>
                  </a:lnTo>
                  <a:cubicBezTo>
                    <a:pt x="1804253" y="0"/>
                    <a:pt x="1828308" y="24054"/>
                    <a:pt x="1828308" y="53727"/>
                  </a:cubicBezTo>
                  <a:lnTo>
                    <a:pt x="1828308" y="168634"/>
                  </a:lnTo>
                  <a:cubicBezTo>
                    <a:pt x="1828308" y="198306"/>
                    <a:pt x="1804253" y="222361"/>
                    <a:pt x="1774581" y="222361"/>
                  </a:cubicBezTo>
                  <a:lnTo>
                    <a:pt x="53727" y="222361"/>
                  </a:lnTo>
                  <a:cubicBezTo>
                    <a:pt x="24054" y="222361"/>
                    <a:pt x="0" y="198306"/>
                    <a:pt x="0" y="168634"/>
                  </a:cubicBezTo>
                  <a:lnTo>
                    <a:pt x="0" y="53727"/>
                  </a:lnTo>
                  <a:cubicBezTo>
                    <a:pt x="0" y="24054"/>
                    <a:pt x="24054" y="0"/>
                    <a:pt x="537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28308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0386" y="1673885"/>
            <a:ext cx="13337514" cy="1533062"/>
            <a:chOff x="0" y="0"/>
            <a:chExt cx="3254345" cy="3740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54344" cy="374066"/>
            </a:xfrm>
            <a:custGeom>
              <a:avLst/>
              <a:gdLst/>
              <a:ahLst/>
              <a:cxnLst/>
              <a:rect l="l" t="t" r="r" b="b"/>
              <a:pathLst>
                <a:path w="3254344" h="374066">
                  <a:moveTo>
                    <a:pt x="30184" y="0"/>
                  </a:moveTo>
                  <a:lnTo>
                    <a:pt x="3224160" y="0"/>
                  </a:lnTo>
                  <a:cubicBezTo>
                    <a:pt x="3232166" y="0"/>
                    <a:pt x="3239843" y="3180"/>
                    <a:pt x="3245504" y="8841"/>
                  </a:cubicBezTo>
                  <a:cubicBezTo>
                    <a:pt x="3251164" y="14501"/>
                    <a:pt x="3254344" y="22179"/>
                    <a:pt x="3254344" y="30184"/>
                  </a:cubicBezTo>
                  <a:lnTo>
                    <a:pt x="3254344" y="343882"/>
                  </a:lnTo>
                  <a:cubicBezTo>
                    <a:pt x="3254344" y="351887"/>
                    <a:pt x="3251164" y="359565"/>
                    <a:pt x="3245504" y="365225"/>
                  </a:cubicBezTo>
                  <a:cubicBezTo>
                    <a:pt x="3239843" y="370886"/>
                    <a:pt x="3232166" y="374066"/>
                    <a:pt x="3224160" y="374066"/>
                  </a:cubicBezTo>
                  <a:lnTo>
                    <a:pt x="30184" y="374066"/>
                  </a:lnTo>
                  <a:cubicBezTo>
                    <a:pt x="22179" y="374066"/>
                    <a:pt x="14501" y="370886"/>
                    <a:pt x="8841" y="365225"/>
                  </a:cubicBezTo>
                  <a:cubicBezTo>
                    <a:pt x="3180" y="359565"/>
                    <a:pt x="0" y="351887"/>
                    <a:pt x="0" y="343882"/>
                  </a:cubicBezTo>
                  <a:lnTo>
                    <a:pt x="0" y="30184"/>
                  </a:lnTo>
                  <a:cubicBezTo>
                    <a:pt x="0" y="22179"/>
                    <a:pt x="3180" y="14501"/>
                    <a:pt x="8841" y="8841"/>
                  </a:cubicBezTo>
                  <a:cubicBezTo>
                    <a:pt x="14501" y="3180"/>
                    <a:pt x="22179" y="0"/>
                    <a:pt x="3018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254345" cy="412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3327204" y="-3440248"/>
            <a:ext cx="6880497" cy="688049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90053" y="8802641"/>
            <a:ext cx="4158273" cy="911317"/>
            <a:chOff x="0" y="0"/>
            <a:chExt cx="1014616" cy="2223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4616" cy="222361"/>
            </a:xfrm>
            <a:custGeom>
              <a:avLst/>
              <a:gdLst/>
              <a:ahLst/>
              <a:cxnLst/>
              <a:rect l="l" t="t" r="r" b="b"/>
              <a:pathLst>
                <a:path w="1014616" h="222361">
                  <a:moveTo>
                    <a:pt x="96814" y="0"/>
                  </a:moveTo>
                  <a:lnTo>
                    <a:pt x="917802" y="0"/>
                  </a:lnTo>
                  <a:cubicBezTo>
                    <a:pt x="943478" y="0"/>
                    <a:pt x="968104" y="10200"/>
                    <a:pt x="986260" y="28356"/>
                  </a:cubicBezTo>
                  <a:cubicBezTo>
                    <a:pt x="1004416" y="46512"/>
                    <a:pt x="1014616" y="71137"/>
                    <a:pt x="1014616" y="96814"/>
                  </a:cubicBezTo>
                  <a:lnTo>
                    <a:pt x="1014616" y="125547"/>
                  </a:lnTo>
                  <a:cubicBezTo>
                    <a:pt x="1014616" y="179016"/>
                    <a:pt x="971271" y="222361"/>
                    <a:pt x="917802" y="222361"/>
                  </a:cubicBezTo>
                  <a:lnTo>
                    <a:pt x="96814" y="222361"/>
                  </a:lnTo>
                  <a:cubicBezTo>
                    <a:pt x="71137" y="222361"/>
                    <a:pt x="46512" y="212161"/>
                    <a:pt x="28356" y="194005"/>
                  </a:cubicBezTo>
                  <a:cubicBezTo>
                    <a:pt x="10200" y="175848"/>
                    <a:pt x="0" y="151223"/>
                    <a:pt x="0" y="125547"/>
                  </a:cubicBezTo>
                  <a:lnTo>
                    <a:pt x="0" y="96814"/>
                  </a:lnTo>
                  <a:cubicBezTo>
                    <a:pt x="0" y="71137"/>
                    <a:pt x="10200" y="46512"/>
                    <a:pt x="28356" y="28356"/>
                  </a:cubicBezTo>
                  <a:cubicBezTo>
                    <a:pt x="46512" y="10200"/>
                    <a:pt x="71137" y="0"/>
                    <a:pt x="96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14616" cy="260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0386" y="3967405"/>
            <a:ext cx="15274454" cy="4398846"/>
            <a:chOff x="0" y="0"/>
            <a:chExt cx="3726957" cy="10733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26957" cy="1073315"/>
            </a:xfrm>
            <a:custGeom>
              <a:avLst/>
              <a:gdLst/>
              <a:ahLst/>
              <a:cxnLst/>
              <a:rect l="l" t="t" r="r" b="b"/>
              <a:pathLst>
                <a:path w="3726957" h="1073315">
                  <a:moveTo>
                    <a:pt x="26356" y="0"/>
                  </a:moveTo>
                  <a:lnTo>
                    <a:pt x="3700600" y="0"/>
                  </a:lnTo>
                  <a:cubicBezTo>
                    <a:pt x="3715157" y="0"/>
                    <a:pt x="3726957" y="11800"/>
                    <a:pt x="3726957" y="26356"/>
                  </a:cubicBezTo>
                  <a:lnTo>
                    <a:pt x="3726957" y="1046959"/>
                  </a:lnTo>
                  <a:cubicBezTo>
                    <a:pt x="3726957" y="1061515"/>
                    <a:pt x="3715157" y="1073315"/>
                    <a:pt x="3700600" y="1073315"/>
                  </a:cubicBezTo>
                  <a:lnTo>
                    <a:pt x="26356" y="1073315"/>
                  </a:lnTo>
                  <a:cubicBezTo>
                    <a:pt x="11800" y="1073315"/>
                    <a:pt x="0" y="1061515"/>
                    <a:pt x="0" y="1046959"/>
                  </a:cubicBezTo>
                  <a:lnTo>
                    <a:pt x="0" y="26356"/>
                  </a:lnTo>
                  <a:cubicBezTo>
                    <a:pt x="0" y="11800"/>
                    <a:pt x="11800" y="0"/>
                    <a:pt x="263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726957" cy="1111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806648" y="398184"/>
            <a:ext cx="7493084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  <a:spcBef>
                <a:spcPct val="0"/>
              </a:spcBef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Real-World Impact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73885" y="1764479"/>
            <a:ext cx="12685608" cy="50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 spc="1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Data to Diagnosis: A Tool for Proactive Care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73885" y="2508792"/>
            <a:ext cx="12685608" cy="44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  <a:spcBef>
                <a:spcPct val="0"/>
              </a:spcBef>
            </a:pPr>
            <a:r>
              <a:rPr lang="en-US" sz="2355" b="1" i="1" spc="108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We successfully built a reliable model that can make healthcare more efficient and proactive.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73885" y="4269738"/>
            <a:ext cx="15274454" cy="47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149" lvl="1" indent="-265074" algn="l">
              <a:lnSpc>
                <a:spcPts val="3437"/>
              </a:lnSpc>
              <a:buFont typeface="Arial"/>
              <a:buChar char="•"/>
            </a:pPr>
            <a:r>
              <a:rPr lang="en-US" sz="2455" b="1" spc="1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We Delivered: A predictive model optimized for the early detection of diabetes.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-4083934" y="4978892"/>
            <a:ext cx="15274454" cy="47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</a:pPr>
            <a:r>
              <a:rPr lang="en-US" sz="2555" b="1" spc="11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It Helps: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14742" y="5666987"/>
            <a:ext cx="15274454" cy="168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559" lvl="1" indent="-254280" algn="l">
              <a:lnSpc>
                <a:spcPts val="4451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Allows clinics to prioritize at-risk patients for follow-up tests. </a:t>
            </a:r>
          </a:p>
          <a:p>
            <a:pPr marL="508559" lvl="1" indent="-254280" algn="l">
              <a:lnSpc>
                <a:spcPts val="4451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Reduces resource strain by focusing tests and staff time where it's needed most. </a:t>
            </a:r>
          </a:p>
          <a:p>
            <a:pPr marL="508559" lvl="1" indent="-254280" algn="l">
              <a:lnSpc>
                <a:spcPts val="4451"/>
              </a:lnSpc>
              <a:buFont typeface="Arial"/>
              <a:buChar char="•"/>
            </a:pPr>
            <a:r>
              <a:rPr lang="en-US" sz="2355" b="1" spc="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Provides a crucial opportunity for early intervention, significantly improving patient outcomes.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84818" y="6846752"/>
            <a:ext cx="6880497" cy="688049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8144415"/>
            <a:ext cx="1290369" cy="12903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159537" y="-3440248"/>
            <a:ext cx="6880497" cy="68804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0290" y="0"/>
                  </a:moveTo>
                  <a:lnTo>
                    <a:pt x="312510" y="0"/>
                  </a:lnTo>
                  <a:cubicBezTo>
                    <a:pt x="280196" y="0"/>
                    <a:pt x="254000" y="26196"/>
                    <a:pt x="254000" y="58510"/>
                  </a:cubicBezTo>
                  <a:lnTo>
                    <a:pt x="254000" y="195490"/>
                  </a:lnTo>
                  <a:cubicBezTo>
                    <a:pt x="254000" y="227804"/>
                    <a:pt x="227804" y="254000"/>
                    <a:pt x="195490" y="254000"/>
                  </a:cubicBezTo>
                  <a:lnTo>
                    <a:pt x="58510" y="254000"/>
                  </a:lnTo>
                  <a:cubicBezTo>
                    <a:pt x="26196" y="254000"/>
                    <a:pt x="0" y="280196"/>
                    <a:pt x="0" y="312510"/>
                  </a:cubicBezTo>
                  <a:lnTo>
                    <a:pt x="0" y="500290"/>
                  </a:lnTo>
                  <a:cubicBezTo>
                    <a:pt x="0" y="532604"/>
                    <a:pt x="26196" y="558800"/>
                    <a:pt x="58510" y="558800"/>
                  </a:cubicBezTo>
                  <a:lnTo>
                    <a:pt x="195490" y="558800"/>
                  </a:lnTo>
                  <a:cubicBezTo>
                    <a:pt x="227804" y="558800"/>
                    <a:pt x="254000" y="584996"/>
                    <a:pt x="254000" y="617310"/>
                  </a:cubicBezTo>
                  <a:lnTo>
                    <a:pt x="254000" y="754290"/>
                  </a:lnTo>
                  <a:cubicBezTo>
                    <a:pt x="254000" y="786604"/>
                    <a:pt x="280196" y="812800"/>
                    <a:pt x="312510" y="812800"/>
                  </a:cubicBezTo>
                  <a:lnTo>
                    <a:pt x="500290" y="812800"/>
                  </a:lnTo>
                  <a:cubicBezTo>
                    <a:pt x="532604" y="812800"/>
                    <a:pt x="558800" y="786604"/>
                    <a:pt x="558800" y="754290"/>
                  </a:cubicBezTo>
                  <a:lnTo>
                    <a:pt x="558800" y="617310"/>
                  </a:lnTo>
                  <a:cubicBezTo>
                    <a:pt x="558800" y="584996"/>
                    <a:pt x="584996" y="558800"/>
                    <a:pt x="617310" y="558800"/>
                  </a:cubicBezTo>
                  <a:lnTo>
                    <a:pt x="754290" y="558800"/>
                  </a:lnTo>
                  <a:cubicBezTo>
                    <a:pt x="786604" y="558800"/>
                    <a:pt x="812800" y="532604"/>
                    <a:pt x="812800" y="500290"/>
                  </a:cubicBezTo>
                  <a:lnTo>
                    <a:pt x="812800" y="312510"/>
                  </a:lnTo>
                  <a:cubicBezTo>
                    <a:pt x="812800" y="280196"/>
                    <a:pt x="786604" y="254000"/>
                    <a:pt x="754290" y="254000"/>
                  </a:cubicBezTo>
                  <a:lnTo>
                    <a:pt x="617310" y="254000"/>
                  </a:lnTo>
                  <a:cubicBezTo>
                    <a:pt x="584996" y="254000"/>
                    <a:pt x="558800" y="227804"/>
                    <a:pt x="558800" y="195490"/>
                  </a:cubicBezTo>
                  <a:lnTo>
                    <a:pt x="558800" y="58510"/>
                  </a:lnTo>
                  <a:cubicBezTo>
                    <a:pt x="558800" y="26196"/>
                    <a:pt x="532604" y="0"/>
                    <a:pt x="5002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022485" y="4730185"/>
            <a:ext cx="4243030" cy="1278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17"/>
              </a:lnSpc>
              <a:spcBef>
                <a:spcPct val="0"/>
              </a:spcBef>
            </a:pPr>
            <a:r>
              <a:rPr lang="en-US" sz="6655" b="1" spc="30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834</Words>
  <Application>Microsoft Office PowerPoint</Application>
  <PresentationFormat>Custom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 Unicode Bold</vt:lpstr>
      <vt:lpstr>Calibri</vt:lpstr>
      <vt:lpstr>Alexandria Bold</vt:lpstr>
      <vt:lpstr>Times New Roman Bold Italics</vt:lpstr>
      <vt:lpstr>Times New Roman</vt:lpstr>
      <vt:lpstr>Times New Roman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Blue Gradient Healthcare Technology Presentation</dc:title>
  <cp:lastModifiedBy>DELL</cp:lastModifiedBy>
  <cp:revision>3</cp:revision>
  <dcterms:created xsi:type="dcterms:W3CDTF">2006-08-16T00:00:00Z</dcterms:created>
  <dcterms:modified xsi:type="dcterms:W3CDTF">2025-06-13T20:32:52Z</dcterms:modified>
  <dc:identifier>DAGp4Ojq-eU</dc:identifier>
</cp:coreProperties>
</file>